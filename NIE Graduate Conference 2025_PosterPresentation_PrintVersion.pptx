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ink/ink1.xml" ContentType="application/inkml+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3"/>
  </p:notesMasterIdLst>
  <p:sldIdLst>
    <p:sldId id="256" r:id="rId2"/>
  </p:sldIdLst>
  <p:sldSz cx="21396325" cy="30267275"/>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3F8FB"/>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5538" autoAdjust="0"/>
    <p:restoredTop sz="94660"/>
  </p:normalViewPr>
  <p:slideViewPr>
    <p:cSldViewPr snapToGrid="0">
      <p:cViewPr>
        <p:scale>
          <a:sx n="25" d="100"/>
          <a:sy n="25" d="100"/>
        </p:scale>
        <p:origin x="2606" y="-130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06T00:31:55.973"/>
    </inkml:context>
    <inkml:brush xml:id="br0">
      <inkml:brushProperty name="width" value="0.35" units="cm"/>
      <inkml:brushProperty name="height" value="0.35" units="cm"/>
      <inkml:brushProperty name="color" value="#FFFFFF"/>
    </inkml:brush>
  </inkml:definitions>
  <inkml:trace contextRef="#ctx0" brushRef="#br0">1 0 24575,'0'0'-8191</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1617522-E1B7-448C-83BA-6ECFD22614DE}" type="datetimeFigureOut">
              <a:rPr lang="en-IN" smtClean="0"/>
              <a:t>13-10-2025</a:t>
            </a:fld>
            <a:endParaRPr lang="en-IN"/>
          </a:p>
        </p:txBody>
      </p:sp>
      <p:sp>
        <p:nvSpPr>
          <p:cNvPr id="4" name="Slide Image Placeholder 3"/>
          <p:cNvSpPr>
            <a:spLocks noGrp="1" noRot="1" noChangeAspect="1"/>
          </p:cNvSpPr>
          <p:nvPr>
            <p:ph type="sldImg" idx="2"/>
          </p:nvPr>
        </p:nvSpPr>
        <p:spPr>
          <a:xfrm>
            <a:off x="2338388" y="1143000"/>
            <a:ext cx="2181225"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267B185-A56A-4195-984A-98EA0A5F7000}" type="slidenum">
              <a:rPr lang="en-IN" smtClean="0"/>
              <a:t>‹#›</a:t>
            </a:fld>
            <a:endParaRPr lang="en-IN"/>
          </a:p>
        </p:txBody>
      </p:sp>
    </p:spTree>
    <p:extLst>
      <p:ext uri="{BB962C8B-B14F-4D97-AF65-F5344CB8AC3E}">
        <p14:creationId xmlns:p14="http://schemas.microsoft.com/office/powerpoint/2010/main" val="85376107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1200" b="0" i="0" kern="1200" dirty="0">
              <a:solidFill>
                <a:schemeClr val="tx1"/>
              </a:solidFill>
              <a:effectLst/>
              <a:latin typeface="+mn-lt"/>
              <a:ea typeface="+mn-ea"/>
              <a:cs typeface="+mn-cs"/>
            </a:endParaRPr>
          </a:p>
        </p:txBody>
      </p:sp>
      <p:sp>
        <p:nvSpPr>
          <p:cNvPr id="4" name="Slide Number Placeholder 3"/>
          <p:cNvSpPr>
            <a:spLocks noGrp="1"/>
          </p:cNvSpPr>
          <p:nvPr>
            <p:ph type="sldNum" sz="quarter" idx="5"/>
          </p:nvPr>
        </p:nvSpPr>
        <p:spPr/>
        <p:txBody>
          <a:bodyPr/>
          <a:lstStyle/>
          <a:p>
            <a:fld id="{0267B185-A56A-4195-984A-98EA0A5F7000}" type="slidenum">
              <a:rPr lang="en-IN" smtClean="0"/>
              <a:t>1</a:t>
            </a:fld>
            <a:endParaRPr lang="en-IN"/>
          </a:p>
        </p:txBody>
      </p:sp>
    </p:spTree>
    <p:extLst>
      <p:ext uri="{BB962C8B-B14F-4D97-AF65-F5344CB8AC3E}">
        <p14:creationId xmlns:p14="http://schemas.microsoft.com/office/powerpoint/2010/main" val="3062874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604725" y="4953466"/>
            <a:ext cx="18186876" cy="10537496"/>
          </a:xfrm>
        </p:spPr>
        <p:txBody>
          <a:bodyPr anchor="b"/>
          <a:lstStyle>
            <a:lvl1pPr algn="ctr">
              <a:defRPr sz="14039"/>
            </a:lvl1pPr>
          </a:lstStyle>
          <a:p>
            <a:r>
              <a:rPr lang="en-US"/>
              <a:t>Click to edit Master title style</a:t>
            </a:r>
            <a:endParaRPr lang="en-US" dirty="0"/>
          </a:p>
        </p:txBody>
      </p:sp>
      <p:sp>
        <p:nvSpPr>
          <p:cNvPr id="3" name="Subtitle 2"/>
          <p:cNvSpPr>
            <a:spLocks noGrp="1"/>
          </p:cNvSpPr>
          <p:nvPr>
            <p:ph type="subTitle" idx="1"/>
          </p:nvPr>
        </p:nvSpPr>
        <p:spPr>
          <a:xfrm>
            <a:off x="2674541" y="15897328"/>
            <a:ext cx="16047244" cy="7307583"/>
          </a:xfrm>
        </p:spPr>
        <p:txBody>
          <a:bodyPr/>
          <a:lstStyle>
            <a:lvl1pPr marL="0" indent="0" algn="ctr">
              <a:buNone/>
              <a:defRPr sz="5615"/>
            </a:lvl1pPr>
            <a:lvl2pPr marL="1069740" indent="0" algn="ctr">
              <a:buNone/>
              <a:defRPr sz="4679"/>
            </a:lvl2pPr>
            <a:lvl3pPr marL="2139479" indent="0" algn="ctr">
              <a:buNone/>
              <a:defRPr sz="4212"/>
            </a:lvl3pPr>
            <a:lvl4pPr marL="3209219" indent="0" algn="ctr">
              <a:buNone/>
              <a:defRPr sz="3744"/>
            </a:lvl4pPr>
            <a:lvl5pPr marL="4278957" indent="0" algn="ctr">
              <a:buNone/>
              <a:defRPr sz="3744"/>
            </a:lvl5pPr>
            <a:lvl6pPr marL="5348697" indent="0" algn="ctr">
              <a:buNone/>
              <a:defRPr sz="3744"/>
            </a:lvl6pPr>
            <a:lvl7pPr marL="6418437" indent="0" algn="ctr">
              <a:buNone/>
              <a:defRPr sz="3744"/>
            </a:lvl7pPr>
            <a:lvl8pPr marL="7488176" indent="0" algn="ctr">
              <a:buNone/>
              <a:defRPr sz="3744"/>
            </a:lvl8pPr>
            <a:lvl9pPr marL="8557916" indent="0" algn="ctr">
              <a:buNone/>
              <a:defRPr sz="3744"/>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F62F998A-5FAD-4902-8CFC-7390833AF9A6}" type="datetimeFigureOut">
              <a:rPr lang="en-SG" smtClean="0"/>
              <a:t>13/10/2025</a:t>
            </a:fld>
            <a:endParaRPr lang="en-SG"/>
          </a:p>
        </p:txBody>
      </p:sp>
      <p:sp>
        <p:nvSpPr>
          <p:cNvPr id="5" name="Footer Placeholder 4"/>
          <p:cNvSpPr>
            <a:spLocks noGrp="1"/>
          </p:cNvSpPr>
          <p:nvPr>
            <p:ph type="ftr" sz="quarter" idx="11"/>
          </p:nvPr>
        </p:nvSpPr>
        <p:spPr/>
        <p:txBody>
          <a:bodyPr/>
          <a:lstStyle/>
          <a:p>
            <a:endParaRPr lang="en-SG"/>
          </a:p>
        </p:txBody>
      </p:sp>
      <p:sp>
        <p:nvSpPr>
          <p:cNvPr id="6" name="Slide Number Placeholder 5"/>
          <p:cNvSpPr>
            <a:spLocks noGrp="1"/>
          </p:cNvSpPr>
          <p:nvPr>
            <p:ph type="sldNum" sz="quarter" idx="12"/>
          </p:nvPr>
        </p:nvSpPr>
        <p:spPr/>
        <p:txBody>
          <a:bodyPr/>
          <a:lstStyle/>
          <a:p>
            <a:fld id="{75F9F7C3-877F-48D4-A587-89F1F0DBD513}" type="slidenum">
              <a:rPr lang="en-SG" smtClean="0"/>
              <a:t>‹#›</a:t>
            </a:fld>
            <a:endParaRPr lang="en-SG"/>
          </a:p>
        </p:txBody>
      </p:sp>
    </p:spTree>
    <p:extLst>
      <p:ext uri="{BB962C8B-B14F-4D97-AF65-F5344CB8AC3E}">
        <p14:creationId xmlns:p14="http://schemas.microsoft.com/office/powerpoint/2010/main" val="121522550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62F998A-5FAD-4902-8CFC-7390833AF9A6}" type="datetimeFigureOut">
              <a:rPr lang="en-SG" smtClean="0"/>
              <a:t>13/10/2025</a:t>
            </a:fld>
            <a:endParaRPr lang="en-SG"/>
          </a:p>
        </p:txBody>
      </p:sp>
      <p:sp>
        <p:nvSpPr>
          <p:cNvPr id="5" name="Footer Placeholder 4"/>
          <p:cNvSpPr>
            <a:spLocks noGrp="1"/>
          </p:cNvSpPr>
          <p:nvPr>
            <p:ph type="ftr" sz="quarter" idx="11"/>
          </p:nvPr>
        </p:nvSpPr>
        <p:spPr/>
        <p:txBody>
          <a:bodyPr/>
          <a:lstStyle/>
          <a:p>
            <a:endParaRPr lang="en-SG"/>
          </a:p>
        </p:txBody>
      </p:sp>
      <p:sp>
        <p:nvSpPr>
          <p:cNvPr id="6" name="Slide Number Placeholder 5"/>
          <p:cNvSpPr>
            <a:spLocks noGrp="1"/>
          </p:cNvSpPr>
          <p:nvPr>
            <p:ph type="sldNum" sz="quarter" idx="12"/>
          </p:nvPr>
        </p:nvSpPr>
        <p:spPr/>
        <p:txBody>
          <a:bodyPr/>
          <a:lstStyle/>
          <a:p>
            <a:fld id="{75F9F7C3-877F-48D4-A587-89F1F0DBD513}" type="slidenum">
              <a:rPr lang="en-SG" smtClean="0"/>
              <a:t>‹#›</a:t>
            </a:fld>
            <a:endParaRPr lang="en-SG"/>
          </a:p>
        </p:txBody>
      </p:sp>
    </p:spTree>
    <p:extLst>
      <p:ext uri="{BB962C8B-B14F-4D97-AF65-F5344CB8AC3E}">
        <p14:creationId xmlns:p14="http://schemas.microsoft.com/office/powerpoint/2010/main" val="195180847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459855" y="7545810"/>
            <a:ext cx="18454330" cy="12590343"/>
          </a:xfrm>
        </p:spPr>
        <p:txBody>
          <a:bodyPr anchor="b"/>
          <a:lstStyle>
            <a:lvl1pPr>
              <a:defRPr sz="14039"/>
            </a:lvl1pPr>
          </a:lstStyle>
          <a:p>
            <a:r>
              <a:rPr lang="en-US"/>
              <a:t>Click to edit Master title style</a:t>
            </a:r>
            <a:endParaRPr lang="en-US" dirty="0"/>
          </a:p>
        </p:txBody>
      </p:sp>
      <p:sp>
        <p:nvSpPr>
          <p:cNvPr id="3" name="Text Placeholder 2"/>
          <p:cNvSpPr>
            <a:spLocks noGrp="1"/>
          </p:cNvSpPr>
          <p:nvPr>
            <p:ph type="body" idx="1"/>
          </p:nvPr>
        </p:nvSpPr>
        <p:spPr>
          <a:xfrm>
            <a:off x="1459855" y="20255262"/>
            <a:ext cx="18454330" cy="6620964"/>
          </a:xfrm>
        </p:spPr>
        <p:txBody>
          <a:bodyPr/>
          <a:lstStyle>
            <a:lvl1pPr marL="0" indent="0">
              <a:buNone/>
              <a:defRPr sz="5615">
                <a:solidFill>
                  <a:schemeClr val="tx1">
                    <a:tint val="82000"/>
                  </a:schemeClr>
                </a:solidFill>
              </a:defRPr>
            </a:lvl1pPr>
            <a:lvl2pPr marL="1069740" indent="0">
              <a:buNone/>
              <a:defRPr sz="4679">
                <a:solidFill>
                  <a:schemeClr val="tx1">
                    <a:tint val="82000"/>
                  </a:schemeClr>
                </a:solidFill>
              </a:defRPr>
            </a:lvl2pPr>
            <a:lvl3pPr marL="2139479" indent="0">
              <a:buNone/>
              <a:defRPr sz="4212">
                <a:solidFill>
                  <a:schemeClr val="tx1">
                    <a:tint val="82000"/>
                  </a:schemeClr>
                </a:solidFill>
              </a:defRPr>
            </a:lvl3pPr>
            <a:lvl4pPr marL="3209219" indent="0">
              <a:buNone/>
              <a:defRPr sz="3744">
                <a:solidFill>
                  <a:schemeClr val="tx1">
                    <a:tint val="82000"/>
                  </a:schemeClr>
                </a:solidFill>
              </a:defRPr>
            </a:lvl4pPr>
            <a:lvl5pPr marL="4278957" indent="0">
              <a:buNone/>
              <a:defRPr sz="3744">
                <a:solidFill>
                  <a:schemeClr val="tx1">
                    <a:tint val="82000"/>
                  </a:schemeClr>
                </a:solidFill>
              </a:defRPr>
            </a:lvl5pPr>
            <a:lvl6pPr marL="5348697" indent="0">
              <a:buNone/>
              <a:defRPr sz="3744">
                <a:solidFill>
                  <a:schemeClr val="tx1">
                    <a:tint val="82000"/>
                  </a:schemeClr>
                </a:solidFill>
              </a:defRPr>
            </a:lvl6pPr>
            <a:lvl7pPr marL="6418437" indent="0">
              <a:buNone/>
              <a:defRPr sz="3744">
                <a:solidFill>
                  <a:schemeClr val="tx1">
                    <a:tint val="82000"/>
                  </a:schemeClr>
                </a:solidFill>
              </a:defRPr>
            </a:lvl7pPr>
            <a:lvl8pPr marL="7488176" indent="0">
              <a:buNone/>
              <a:defRPr sz="3744">
                <a:solidFill>
                  <a:schemeClr val="tx1">
                    <a:tint val="82000"/>
                  </a:schemeClr>
                </a:solidFill>
              </a:defRPr>
            </a:lvl8pPr>
            <a:lvl9pPr marL="8557916" indent="0">
              <a:buNone/>
              <a:defRPr sz="3744">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62F998A-5FAD-4902-8CFC-7390833AF9A6}" type="datetimeFigureOut">
              <a:rPr lang="en-SG" smtClean="0"/>
              <a:t>13/10/2025</a:t>
            </a:fld>
            <a:endParaRPr lang="en-SG"/>
          </a:p>
        </p:txBody>
      </p:sp>
      <p:sp>
        <p:nvSpPr>
          <p:cNvPr id="5" name="Footer Placeholder 4"/>
          <p:cNvSpPr>
            <a:spLocks noGrp="1"/>
          </p:cNvSpPr>
          <p:nvPr>
            <p:ph type="ftr" sz="quarter" idx="11"/>
          </p:nvPr>
        </p:nvSpPr>
        <p:spPr/>
        <p:txBody>
          <a:bodyPr/>
          <a:lstStyle/>
          <a:p>
            <a:endParaRPr lang="en-SG"/>
          </a:p>
        </p:txBody>
      </p:sp>
      <p:sp>
        <p:nvSpPr>
          <p:cNvPr id="6" name="Slide Number Placeholder 5"/>
          <p:cNvSpPr>
            <a:spLocks noGrp="1"/>
          </p:cNvSpPr>
          <p:nvPr>
            <p:ph type="sldNum" sz="quarter" idx="12"/>
          </p:nvPr>
        </p:nvSpPr>
        <p:spPr/>
        <p:txBody>
          <a:bodyPr/>
          <a:lstStyle/>
          <a:p>
            <a:fld id="{75F9F7C3-877F-48D4-A587-89F1F0DBD513}" type="slidenum">
              <a:rPr lang="en-SG" smtClean="0"/>
              <a:t>‹#›</a:t>
            </a:fld>
            <a:endParaRPr lang="en-SG"/>
          </a:p>
        </p:txBody>
      </p:sp>
    </p:spTree>
    <p:extLst>
      <p:ext uri="{BB962C8B-B14F-4D97-AF65-F5344CB8AC3E}">
        <p14:creationId xmlns:p14="http://schemas.microsoft.com/office/powerpoint/2010/main" val="283801706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470997" y="8057261"/>
            <a:ext cx="9093438" cy="1920430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10831890" y="8057261"/>
            <a:ext cx="9093438" cy="1920430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F62F998A-5FAD-4902-8CFC-7390833AF9A6}" type="datetimeFigureOut">
              <a:rPr lang="en-SG" smtClean="0"/>
              <a:t>13/10/2025</a:t>
            </a:fld>
            <a:endParaRPr lang="en-SG"/>
          </a:p>
        </p:txBody>
      </p:sp>
      <p:sp>
        <p:nvSpPr>
          <p:cNvPr id="6" name="Footer Placeholder 5"/>
          <p:cNvSpPr>
            <a:spLocks noGrp="1"/>
          </p:cNvSpPr>
          <p:nvPr>
            <p:ph type="ftr" sz="quarter" idx="11"/>
          </p:nvPr>
        </p:nvSpPr>
        <p:spPr/>
        <p:txBody>
          <a:bodyPr/>
          <a:lstStyle/>
          <a:p>
            <a:endParaRPr lang="en-SG"/>
          </a:p>
        </p:txBody>
      </p:sp>
      <p:sp>
        <p:nvSpPr>
          <p:cNvPr id="7" name="Slide Number Placeholder 6"/>
          <p:cNvSpPr>
            <a:spLocks noGrp="1"/>
          </p:cNvSpPr>
          <p:nvPr>
            <p:ph type="sldNum" sz="quarter" idx="12"/>
          </p:nvPr>
        </p:nvSpPr>
        <p:spPr/>
        <p:txBody>
          <a:bodyPr/>
          <a:lstStyle/>
          <a:p>
            <a:fld id="{75F9F7C3-877F-48D4-A587-89F1F0DBD513}" type="slidenum">
              <a:rPr lang="en-SG" smtClean="0"/>
              <a:t>‹#›</a:t>
            </a:fld>
            <a:endParaRPr lang="en-SG"/>
          </a:p>
        </p:txBody>
      </p:sp>
    </p:spTree>
    <p:extLst>
      <p:ext uri="{BB962C8B-B14F-4D97-AF65-F5344CB8AC3E}">
        <p14:creationId xmlns:p14="http://schemas.microsoft.com/office/powerpoint/2010/main" val="250576111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473784" y="1611460"/>
            <a:ext cx="18454330" cy="5850273"/>
          </a:xfrm>
        </p:spPr>
        <p:txBody>
          <a:bodyPr/>
          <a:lstStyle/>
          <a:p>
            <a:r>
              <a:rPr lang="en-US"/>
              <a:t>Click to edit Master title style</a:t>
            </a:r>
            <a:endParaRPr lang="en-US" dirty="0"/>
          </a:p>
        </p:txBody>
      </p:sp>
      <p:sp>
        <p:nvSpPr>
          <p:cNvPr id="3" name="Text Placeholder 2"/>
          <p:cNvSpPr>
            <a:spLocks noGrp="1"/>
          </p:cNvSpPr>
          <p:nvPr>
            <p:ph type="body" idx="1"/>
          </p:nvPr>
        </p:nvSpPr>
        <p:spPr>
          <a:xfrm>
            <a:off x="1473788" y="7419689"/>
            <a:ext cx="9051647" cy="3636275"/>
          </a:xfrm>
        </p:spPr>
        <p:txBody>
          <a:bodyPr anchor="b"/>
          <a:lstStyle>
            <a:lvl1pPr marL="0" indent="0">
              <a:buNone/>
              <a:defRPr sz="5615" b="1"/>
            </a:lvl1pPr>
            <a:lvl2pPr marL="1069740" indent="0">
              <a:buNone/>
              <a:defRPr sz="4679" b="1"/>
            </a:lvl2pPr>
            <a:lvl3pPr marL="2139479" indent="0">
              <a:buNone/>
              <a:defRPr sz="4212" b="1"/>
            </a:lvl3pPr>
            <a:lvl4pPr marL="3209219" indent="0">
              <a:buNone/>
              <a:defRPr sz="3744" b="1"/>
            </a:lvl4pPr>
            <a:lvl5pPr marL="4278957" indent="0">
              <a:buNone/>
              <a:defRPr sz="3744" b="1"/>
            </a:lvl5pPr>
            <a:lvl6pPr marL="5348697" indent="0">
              <a:buNone/>
              <a:defRPr sz="3744" b="1"/>
            </a:lvl6pPr>
            <a:lvl7pPr marL="6418437" indent="0">
              <a:buNone/>
              <a:defRPr sz="3744" b="1"/>
            </a:lvl7pPr>
            <a:lvl8pPr marL="7488176" indent="0">
              <a:buNone/>
              <a:defRPr sz="3744" b="1"/>
            </a:lvl8pPr>
            <a:lvl9pPr marL="8557916" indent="0">
              <a:buNone/>
              <a:defRPr sz="3744" b="1"/>
            </a:lvl9pPr>
          </a:lstStyle>
          <a:p>
            <a:pPr lvl="0"/>
            <a:r>
              <a:rPr lang="en-US"/>
              <a:t>Click to edit Master text styles</a:t>
            </a:r>
          </a:p>
        </p:txBody>
      </p:sp>
      <p:sp>
        <p:nvSpPr>
          <p:cNvPr id="4" name="Content Placeholder 3"/>
          <p:cNvSpPr>
            <a:spLocks noGrp="1"/>
          </p:cNvSpPr>
          <p:nvPr>
            <p:ph sz="half" idx="2"/>
          </p:nvPr>
        </p:nvSpPr>
        <p:spPr>
          <a:xfrm>
            <a:off x="1473788" y="11055963"/>
            <a:ext cx="9051647" cy="1626165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10831892" y="7419689"/>
            <a:ext cx="9096225" cy="3636275"/>
          </a:xfrm>
        </p:spPr>
        <p:txBody>
          <a:bodyPr anchor="b"/>
          <a:lstStyle>
            <a:lvl1pPr marL="0" indent="0">
              <a:buNone/>
              <a:defRPr sz="5615" b="1"/>
            </a:lvl1pPr>
            <a:lvl2pPr marL="1069740" indent="0">
              <a:buNone/>
              <a:defRPr sz="4679" b="1"/>
            </a:lvl2pPr>
            <a:lvl3pPr marL="2139479" indent="0">
              <a:buNone/>
              <a:defRPr sz="4212" b="1"/>
            </a:lvl3pPr>
            <a:lvl4pPr marL="3209219" indent="0">
              <a:buNone/>
              <a:defRPr sz="3744" b="1"/>
            </a:lvl4pPr>
            <a:lvl5pPr marL="4278957" indent="0">
              <a:buNone/>
              <a:defRPr sz="3744" b="1"/>
            </a:lvl5pPr>
            <a:lvl6pPr marL="5348697" indent="0">
              <a:buNone/>
              <a:defRPr sz="3744" b="1"/>
            </a:lvl6pPr>
            <a:lvl7pPr marL="6418437" indent="0">
              <a:buNone/>
              <a:defRPr sz="3744" b="1"/>
            </a:lvl7pPr>
            <a:lvl8pPr marL="7488176" indent="0">
              <a:buNone/>
              <a:defRPr sz="3744" b="1"/>
            </a:lvl8pPr>
            <a:lvl9pPr marL="8557916" indent="0">
              <a:buNone/>
              <a:defRPr sz="3744" b="1"/>
            </a:lvl9pPr>
          </a:lstStyle>
          <a:p>
            <a:pPr lvl="0"/>
            <a:r>
              <a:rPr lang="en-US"/>
              <a:t>Click to edit Master text styles</a:t>
            </a:r>
          </a:p>
        </p:txBody>
      </p:sp>
      <p:sp>
        <p:nvSpPr>
          <p:cNvPr id="6" name="Content Placeholder 5"/>
          <p:cNvSpPr>
            <a:spLocks noGrp="1"/>
          </p:cNvSpPr>
          <p:nvPr>
            <p:ph sz="quarter" idx="4"/>
          </p:nvPr>
        </p:nvSpPr>
        <p:spPr>
          <a:xfrm>
            <a:off x="10831892" y="11055963"/>
            <a:ext cx="9096225" cy="1626165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F62F998A-5FAD-4902-8CFC-7390833AF9A6}" type="datetimeFigureOut">
              <a:rPr lang="en-SG" smtClean="0"/>
              <a:t>13/10/2025</a:t>
            </a:fld>
            <a:endParaRPr lang="en-SG"/>
          </a:p>
        </p:txBody>
      </p:sp>
      <p:sp>
        <p:nvSpPr>
          <p:cNvPr id="8" name="Footer Placeholder 7"/>
          <p:cNvSpPr>
            <a:spLocks noGrp="1"/>
          </p:cNvSpPr>
          <p:nvPr>
            <p:ph type="ftr" sz="quarter" idx="11"/>
          </p:nvPr>
        </p:nvSpPr>
        <p:spPr/>
        <p:txBody>
          <a:bodyPr/>
          <a:lstStyle/>
          <a:p>
            <a:endParaRPr lang="en-SG"/>
          </a:p>
        </p:txBody>
      </p:sp>
      <p:sp>
        <p:nvSpPr>
          <p:cNvPr id="9" name="Slide Number Placeholder 8"/>
          <p:cNvSpPr>
            <a:spLocks noGrp="1"/>
          </p:cNvSpPr>
          <p:nvPr>
            <p:ph type="sldNum" sz="quarter" idx="12"/>
          </p:nvPr>
        </p:nvSpPr>
        <p:spPr/>
        <p:txBody>
          <a:bodyPr/>
          <a:lstStyle/>
          <a:p>
            <a:fld id="{75F9F7C3-877F-48D4-A587-89F1F0DBD513}" type="slidenum">
              <a:rPr lang="en-SG" smtClean="0"/>
              <a:t>‹#›</a:t>
            </a:fld>
            <a:endParaRPr lang="en-SG"/>
          </a:p>
        </p:txBody>
      </p:sp>
    </p:spTree>
    <p:extLst>
      <p:ext uri="{BB962C8B-B14F-4D97-AF65-F5344CB8AC3E}">
        <p14:creationId xmlns:p14="http://schemas.microsoft.com/office/powerpoint/2010/main" val="252711907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F62F998A-5FAD-4902-8CFC-7390833AF9A6}" type="datetimeFigureOut">
              <a:rPr lang="en-SG" smtClean="0"/>
              <a:t>13/10/2025</a:t>
            </a:fld>
            <a:endParaRPr lang="en-SG"/>
          </a:p>
        </p:txBody>
      </p:sp>
      <p:sp>
        <p:nvSpPr>
          <p:cNvPr id="4" name="Footer Placeholder 3"/>
          <p:cNvSpPr>
            <a:spLocks noGrp="1"/>
          </p:cNvSpPr>
          <p:nvPr>
            <p:ph type="ftr" sz="quarter" idx="11"/>
          </p:nvPr>
        </p:nvSpPr>
        <p:spPr/>
        <p:txBody>
          <a:bodyPr/>
          <a:lstStyle/>
          <a:p>
            <a:endParaRPr lang="en-SG"/>
          </a:p>
        </p:txBody>
      </p:sp>
      <p:sp>
        <p:nvSpPr>
          <p:cNvPr id="5" name="Slide Number Placeholder 4"/>
          <p:cNvSpPr>
            <a:spLocks noGrp="1"/>
          </p:cNvSpPr>
          <p:nvPr>
            <p:ph type="sldNum" sz="quarter" idx="12"/>
          </p:nvPr>
        </p:nvSpPr>
        <p:spPr/>
        <p:txBody>
          <a:bodyPr/>
          <a:lstStyle/>
          <a:p>
            <a:fld id="{75F9F7C3-877F-48D4-A587-89F1F0DBD513}" type="slidenum">
              <a:rPr lang="en-SG" smtClean="0"/>
              <a:t>‹#›</a:t>
            </a:fld>
            <a:endParaRPr lang="en-SG"/>
          </a:p>
        </p:txBody>
      </p:sp>
    </p:spTree>
    <p:extLst>
      <p:ext uri="{BB962C8B-B14F-4D97-AF65-F5344CB8AC3E}">
        <p14:creationId xmlns:p14="http://schemas.microsoft.com/office/powerpoint/2010/main" val="251265047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62F998A-5FAD-4902-8CFC-7390833AF9A6}" type="datetimeFigureOut">
              <a:rPr lang="en-SG" smtClean="0"/>
              <a:t>13/10/2025</a:t>
            </a:fld>
            <a:endParaRPr lang="en-SG"/>
          </a:p>
        </p:txBody>
      </p:sp>
      <p:sp>
        <p:nvSpPr>
          <p:cNvPr id="3" name="Footer Placeholder 2"/>
          <p:cNvSpPr>
            <a:spLocks noGrp="1"/>
          </p:cNvSpPr>
          <p:nvPr>
            <p:ph type="ftr" sz="quarter" idx="11"/>
          </p:nvPr>
        </p:nvSpPr>
        <p:spPr/>
        <p:txBody>
          <a:bodyPr/>
          <a:lstStyle/>
          <a:p>
            <a:endParaRPr lang="en-SG"/>
          </a:p>
        </p:txBody>
      </p:sp>
      <p:sp>
        <p:nvSpPr>
          <p:cNvPr id="4" name="Slide Number Placeholder 3"/>
          <p:cNvSpPr>
            <a:spLocks noGrp="1"/>
          </p:cNvSpPr>
          <p:nvPr>
            <p:ph type="sldNum" sz="quarter" idx="12"/>
          </p:nvPr>
        </p:nvSpPr>
        <p:spPr/>
        <p:txBody>
          <a:bodyPr/>
          <a:lstStyle/>
          <a:p>
            <a:fld id="{75F9F7C3-877F-48D4-A587-89F1F0DBD513}" type="slidenum">
              <a:rPr lang="en-SG" smtClean="0"/>
              <a:t>‹#›</a:t>
            </a:fld>
            <a:endParaRPr lang="en-SG"/>
          </a:p>
        </p:txBody>
      </p:sp>
    </p:spTree>
    <p:extLst>
      <p:ext uri="{BB962C8B-B14F-4D97-AF65-F5344CB8AC3E}">
        <p14:creationId xmlns:p14="http://schemas.microsoft.com/office/powerpoint/2010/main" val="325229389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73784" y="2017818"/>
            <a:ext cx="6900872" cy="7062364"/>
          </a:xfrm>
        </p:spPr>
        <p:txBody>
          <a:bodyPr anchor="b"/>
          <a:lstStyle>
            <a:lvl1pPr>
              <a:defRPr sz="7488"/>
            </a:lvl1pPr>
          </a:lstStyle>
          <a:p>
            <a:r>
              <a:rPr lang="en-US"/>
              <a:t>Click to edit Master title style</a:t>
            </a:r>
            <a:endParaRPr lang="en-US" dirty="0"/>
          </a:p>
        </p:txBody>
      </p:sp>
      <p:sp>
        <p:nvSpPr>
          <p:cNvPr id="3" name="Content Placeholder 2"/>
          <p:cNvSpPr>
            <a:spLocks noGrp="1"/>
          </p:cNvSpPr>
          <p:nvPr>
            <p:ph idx="1"/>
          </p:nvPr>
        </p:nvSpPr>
        <p:spPr>
          <a:xfrm>
            <a:off x="9096225" y="4357935"/>
            <a:ext cx="10831890" cy="21509383"/>
          </a:xfrm>
        </p:spPr>
        <p:txBody>
          <a:bodyPr/>
          <a:lstStyle>
            <a:lvl1pPr>
              <a:defRPr sz="7488"/>
            </a:lvl1pPr>
            <a:lvl2pPr>
              <a:defRPr sz="6552"/>
            </a:lvl2pPr>
            <a:lvl3pPr>
              <a:defRPr sz="5615"/>
            </a:lvl3pPr>
            <a:lvl4pPr>
              <a:defRPr sz="4679"/>
            </a:lvl4pPr>
            <a:lvl5pPr>
              <a:defRPr sz="4679"/>
            </a:lvl5pPr>
            <a:lvl6pPr>
              <a:defRPr sz="4679"/>
            </a:lvl6pPr>
            <a:lvl7pPr>
              <a:defRPr sz="4679"/>
            </a:lvl7pPr>
            <a:lvl8pPr>
              <a:defRPr sz="4679"/>
            </a:lvl8pPr>
            <a:lvl9pPr>
              <a:defRPr sz="4679"/>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473784" y="9080184"/>
            <a:ext cx="6900872" cy="16822161"/>
          </a:xfrm>
        </p:spPr>
        <p:txBody>
          <a:bodyPr/>
          <a:lstStyle>
            <a:lvl1pPr marL="0" indent="0">
              <a:buNone/>
              <a:defRPr sz="3744"/>
            </a:lvl1pPr>
            <a:lvl2pPr marL="1069740" indent="0">
              <a:buNone/>
              <a:defRPr sz="3275"/>
            </a:lvl2pPr>
            <a:lvl3pPr marL="2139479" indent="0">
              <a:buNone/>
              <a:defRPr sz="2808"/>
            </a:lvl3pPr>
            <a:lvl4pPr marL="3209219" indent="0">
              <a:buNone/>
              <a:defRPr sz="2340"/>
            </a:lvl4pPr>
            <a:lvl5pPr marL="4278957" indent="0">
              <a:buNone/>
              <a:defRPr sz="2340"/>
            </a:lvl5pPr>
            <a:lvl6pPr marL="5348697" indent="0">
              <a:buNone/>
              <a:defRPr sz="2340"/>
            </a:lvl6pPr>
            <a:lvl7pPr marL="6418437" indent="0">
              <a:buNone/>
              <a:defRPr sz="2340"/>
            </a:lvl7pPr>
            <a:lvl8pPr marL="7488176" indent="0">
              <a:buNone/>
              <a:defRPr sz="2340"/>
            </a:lvl8pPr>
            <a:lvl9pPr marL="8557916" indent="0">
              <a:buNone/>
              <a:defRPr sz="2340"/>
            </a:lvl9pPr>
          </a:lstStyle>
          <a:p>
            <a:pPr lvl="0"/>
            <a:r>
              <a:rPr lang="en-US"/>
              <a:t>Click to edit Master text styles</a:t>
            </a:r>
          </a:p>
        </p:txBody>
      </p:sp>
      <p:sp>
        <p:nvSpPr>
          <p:cNvPr id="5" name="Date Placeholder 4"/>
          <p:cNvSpPr>
            <a:spLocks noGrp="1"/>
          </p:cNvSpPr>
          <p:nvPr>
            <p:ph type="dt" sz="half" idx="10"/>
          </p:nvPr>
        </p:nvSpPr>
        <p:spPr/>
        <p:txBody>
          <a:bodyPr/>
          <a:lstStyle/>
          <a:p>
            <a:fld id="{F62F998A-5FAD-4902-8CFC-7390833AF9A6}" type="datetimeFigureOut">
              <a:rPr lang="en-SG" smtClean="0"/>
              <a:t>13/10/2025</a:t>
            </a:fld>
            <a:endParaRPr lang="en-SG"/>
          </a:p>
        </p:txBody>
      </p:sp>
      <p:sp>
        <p:nvSpPr>
          <p:cNvPr id="6" name="Footer Placeholder 5"/>
          <p:cNvSpPr>
            <a:spLocks noGrp="1"/>
          </p:cNvSpPr>
          <p:nvPr>
            <p:ph type="ftr" sz="quarter" idx="11"/>
          </p:nvPr>
        </p:nvSpPr>
        <p:spPr/>
        <p:txBody>
          <a:bodyPr/>
          <a:lstStyle/>
          <a:p>
            <a:endParaRPr lang="en-SG"/>
          </a:p>
        </p:txBody>
      </p:sp>
      <p:sp>
        <p:nvSpPr>
          <p:cNvPr id="7" name="Slide Number Placeholder 6"/>
          <p:cNvSpPr>
            <a:spLocks noGrp="1"/>
          </p:cNvSpPr>
          <p:nvPr>
            <p:ph type="sldNum" sz="quarter" idx="12"/>
          </p:nvPr>
        </p:nvSpPr>
        <p:spPr/>
        <p:txBody>
          <a:bodyPr/>
          <a:lstStyle/>
          <a:p>
            <a:fld id="{75F9F7C3-877F-48D4-A587-89F1F0DBD513}" type="slidenum">
              <a:rPr lang="en-SG" smtClean="0"/>
              <a:t>‹#›</a:t>
            </a:fld>
            <a:endParaRPr lang="en-SG"/>
          </a:p>
        </p:txBody>
      </p:sp>
    </p:spTree>
    <p:extLst>
      <p:ext uri="{BB962C8B-B14F-4D97-AF65-F5344CB8AC3E}">
        <p14:creationId xmlns:p14="http://schemas.microsoft.com/office/powerpoint/2010/main" val="251750758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73784" y="2017818"/>
            <a:ext cx="6900872" cy="7062364"/>
          </a:xfrm>
        </p:spPr>
        <p:txBody>
          <a:bodyPr anchor="b"/>
          <a:lstStyle>
            <a:lvl1pPr>
              <a:defRPr sz="7488"/>
            </a:lvl1pPr>
          </a:lstStyle>
          <a:p>
            <a:r>
              <a:rPr lang="en-US"/>
              <a:t>Click to edit Master title style</a:t>
            </a:r>
            <a:endParaRPr lang="en-US" dirty="0"/>
          </a:p>
        </p:txBody>
      </p:sp>
      <p:sp>
        <p:nvSpPr>
          <p:cNvPr id="3" name="Picture Placeholder 2"/>
          <p:cNvSpPr>
            <a:spLocks noGrp="1" noChangeAspect="1"/>
          </p:cNvSpPr>
          <p:nvPr>
            <p:ph type="pic" idx="1"/>
          </p:nvPr>
        </p:nvSpPr>
        <p:spPr>
          <a:xfrm>
            <a:off x="9096225" y="4357935"/>
            <a:ext cx="10831890" cy="21509383"/>
          </a:xfrm>
        </p:spPr>
        <p:txBody>
          <a:bodyPr anchor="t"/>
          <a:lstStyle>
            <a:lvl1pPr marL="0" indent="0">
              <a:buNone/>
              <a:defRPr sz="7488"/>
            </a:lvl1pPr>
            <a:lvl2pPr marL="1069740" indent="0">
              <a:buNone/>
              <a:defRPr sz="6552"/>
            </a:lvl2pPr>
            <a:lvl3pPr marL="2139479" indent="0">
              <a:buNone/>
              <a:defRPr sz="5615"/>
            </a:lvl3pPr>
            <a:lvl4pPr marL="3209219" indent="0">
              <a:buNone/>
              <a:defRPr sz="4679"/>
            </a:lvl4pPr>
            <a:lvl5pPr marL="4278957" indent="0">
              <a:buNone/>
              <a:defRPr sz="4679"/>
            </a:lvl5pPr>
            <a:lvl6pPr marL="5348697" indent="0">
              <a:buNone/>
              <a:defRPr sz="4679"/>
            </a:lvl6pPr>
            <a:lvl7pPr marL="6418437" indent="0">
              <a:buNone/>
              <a:defRPr sz="4679"/>
            </a:lvl7pPr>
            <a:lvl8pPr marL="7488176" indent="0">
              <a:buNone/>
              <a:defRPr sz="4679"/>
            </a:lvl8pPr>
            <a:lvl9pPr marL="8557916" indent="0">
              <a:buNone/>
              <a:defRPr sz="4679"/>
            </a:lvl9pPr>
          </a:lstStyle>
          <a:p>
            <a:r>
              <a:rPr lang="en-US"/>
              <a:t>Click icon to add picture</a:t>
            </a:r>
            <a:endParaRPr lang="en-US" dirty="0"/>
          </a:p>
        </p:txBody>
      </p:sp>
      <p:sp>
        <p:nvSpPr>
          <p:cNvPr id="4" name="Text Placeholder 3"/>
          <p:cNvSpPr>
            <a:spLocks noGrp="1"/>
          </p:cNvSpPr>
          <p:nvPr>
            <p:ph type="body" sz="half" idx="2"/>
          </p:nvPr>
        </p:nvSpPr>
        <p:spPr>
          <a:xfrm>
            <a:off x="1473784" y="9080184"/>
            <a:ext cx="6900872" cy="16822161"/>
          </a:xfrm>
        </p:spPr>
        <p:txBody>
          <a:bodyPr/>
          <a:lstStyle>
            <a:lvl1pPr marL="0" indent="0">
              <a:buNone/>
              <a:defRPr sz="3744"/>
            </a:lvl1pPr>
            <a:lvl2pPr marL="1069740" indent="0">
              <a:buNone/>
              <a:defRPr sz="3275"/>
            </a:lvl2pPr>
            <a:lvl3pPr marL="2139479" indent="0">
              <a:buNone/>
              <a:defRPr sz="2808"/>
            </a:lvl3pPr>
            <a:lvl4pPr marL="3209219" indent="0">
              <a:buNone/>
              <a:defRPr sz="2340"/>
            </a:lvl4pPr>
            <a:lvl5pPr marL="4278957" indent="0">
              <a:buNone/>
              <a:defRPr sz="2340"/>
            </a:lvl5pPr>
            <a:lvl6pPr marL="5348697" indent="0">
              <a:buNone/>
              <a:defRPr sz="2340"/>
            </a:lvl6pPr>
            <a:lvl7pPr marL="6418437" indent="0">
              <a:buNone/>
              <a:defRPr sz="2340"/>
            </a:lvl7pPr>
            <a:lvl8pPr marL="7488176" indent="0">
              <a:buNone/>
              <a:defRPr sz="2340"/>
            </a:lvl8pPr>
            <a:lvl9pPr marL="8557916" indent="0">
              <a:buNone/>
              <a:defRPr sz="2340"/>
            </a:lvl9pPr>
          </a:lstStyle>
          <a:p>
            <a:pPr lvl="0"/>
            <a:r>
              <a:rPr lang="en-US"/>
              <a:t>Click to edit Master text styles</a:t>
            </a:r>
          </a:p>
        </p:txBody>
      </p:sp>
      <p:sp>
        <p:nvSpPr>
          <p:cNvPr id="5" name="Date Placeholder 4"/>
          <p:cNvSpPr>
            <a:spLocks noGrp="1"/>
          </p:cNvSpPr>
          <p:nvPr>
            <p:ph type="dt" sz="half" idx="10"/>
          </p:nvPr>
        </p:nvSpPr>
        <p:spPr/>
        <p:txBody>
          <a:bodyPr/>
          <a:lstStyle/>
          <a:p>
            <a:fld id="{F62F998A-5FAD-4902-8CFC-7390833AF9A6}" type="datetimeFigureOut">
              <a:rPr lang="en-SG" smtClean="0"/>
              <a:t>13/10/2025</a:t>
            </a:fld>
            <a:endParaRPr lang="en-SG"/>
          </a:p>
        </p:txBody>
      </p:sp>
      <p:sp>
        <p:nvSpPr>
          <p:cNvPr id="6" name="Footer Placeholder 5"/>
          <p:cNvSpPr>
            <a:spLocks noGrp="1"/>
          </p:cNvSpPr>
          <p:nvPr>
            <p:ph type="ftr" sz="quarter" idx="11"/>
          </p:nvPr>
        </p:nvSpPr>
        <p:spPr/>
        <p:txBody>
          <a:bodyPr/>
          <a:lstStyle/>
          <a:p>
            <a:endParaRPr lang="en-SG"/>
          </a:p>
        </p:txBody>
      </p:sp>
      <p:sp>
        <p:nvSpPr>
          <p:cNvPr id="7" name="Slide Number Placeholder 6"/>
          <p:cNvSpPr>
            <a:spLocks noGrp="1"/>
          </p:cNvSpPr>
          <p:nvPr>
            <p:ph type="sldNum" sz="quarter" idx="12"/>
          </p:nvPr>
        </p:nvSpPr>
        <p:spPr/>
        <p:txBody>
          <a:bodyPr/>
          <a:lstStyle/>
          <a:p>
            <a:fld id="{75F9F7C3-877F-48D4-A587-89F1F0DBD513}" type="slidenum">
              <a:rPr lang="en-SG" smtClean="0"/>
              <a:t>‹#›</a:t>
            </a:fld>
            <a:endParaRPr lang="en-SG"/>
          </a:p>
        </p:txBody>
      </p:sp>
    </p:spTree>
    <p:extLst>
      <p:ext uri="{BB962C8B-B14F-4D97-AF65-F5344CB8AC3E}">
        <p14:creationId xmlns:p14="http://schemas.microsoft.com/office/powerpoint/2010/main" val="217946782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62F998A-5FAD-4902-8CFC-7390833AF9A6}" type="datetimeFigureOut">
              <a:rPr lang="en-SG" smtClean="0"/>
              <a:t>13/10/2025</a:t>
            </a:fld>
            <a:endParaRPr lang="en-SG"/>
          </a:p>
        </p:txBody>
      </p:sp>
      <p:sp>
        <p:nvSpPr>
          <p:cNvPr id="5" name="Footer Placeholder 4"/>
          <p:cNvSpPr>
            <a:spLocks noGrp="1"/>
          </p:cNvSpPr>
          <p:nvPr>
            <p:ph type="ftr" sz="quarter" idx="11"/>
          </p:nvPr>
        </p:nvSpPr>
        <p:spPr/>
        <p:txBody>
          <a:bodyPr/>
          <a:lstStyle/>
          <a:p>
            <a:endParaRPr lang="en-SG"/>
          </a:p>
        </p:txBody>
      </p:sp>
      <p:sp>
        <p:nvSpPr>
          <p:cNvPr id="6" name="Slide Number Placeholder 5"/>
          <p:cNvSpPr>
            <a:spLocks noGrp="1"/>
          </p:cNvSpPr>
          <p:nvPr>
            <p:ph type="sldNum" sz="quarter" idx="12"/>
          </p:nvPr>
        </p:nvSpPr>
        <p:spPr/>
        <p:txBody>
          <a:bodyPr/>
          <a:lstStyle/>
          <a:p>
            <a:fld id="{75F9F7C3-877F-48D4-A587-89F1F0DBD513}" type="slidenum">
              <a:rPr lang="en-SG" smtClean="0"/>
              <a:t>‹#›</a:t>
            </a:fld>
            <a:endParaRPr lang="en-SG"/>
          </a:p>
        </p:txBody>
      </p:sp>
    </p:spTree>
    <p:extLst>
      <p:ext uri="{BB962C8B-B14F-4D97-AF65-F5344CB8AC3E}">
        <p14:creationId xmlns:p14="http://schemas.microsoft.com/office/powerpoint/2010/main" val="376730061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5311747" y="1611452"/>
            <a:ext cx="4613583" cy="25650117"/>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470998" y="1611452"/>
            <a:ext cx="13573294" cy="2565011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62F998A-5FAD-4902-8CFC-7390833AF9A6}" type="datetimeFigureOut">
              <a:rPr lang="en-SG" smtClean="0"/>
              <a:t>13/10/2025</a:t>
            </a:fld>
            <a:endParaRPr lang="en-SG"/>
          </a:p>
        </p:txBody>
      </p:sp>
      <p:sp>
        <p:nvSpPr>
          <p:cNvPr id="5" name="Footer Placeholder 4"/>
          <p:cNvSpPr>
            <a:spLocks noGrp="1"/>
          </p:cNvSpPr>
          <p:nvPr>
            <p:ph type="ftr" sz="quarter" idx="11"/>
          </p:nvPr>
        </p:nvSpPr>
        <p:spPr/>
        <p:txBody>
          <a:bodyPr/>
          <a:lstStyle/>
          <a:p>
            <a:endParaRPr lang="en-SG"/>
          </a:p>
        </p:txBody>
      </p:sp>
      <p:sp>
        <p:nvSpPr>
          <p:cNvPr id="6" name="Slide Number Placeholder 5"/>
          <p:cNvSpPr>
            <a:spLocks noGrp="1"/>
          </p:cNvSpPr>
          <p:nvPr>
            <p:ph type="sldNum" sz="quarter" idx="12"/>
          </p:nvPr>
        </p:nvSpPr>
        <p:spPr/>
        <p:txBody>
          <a:bodyPr/>
          <a:lstStyle/>
          <a:p>
            <a:fld id="{75F9F7C3-877F-48D4-A587-89F1F0DBD513}" type="slidenum">
              <a:rPr lang="en-SG" smtClean="0"/>
              <a:t>‹#›</a:t>
            </a:fld>
            <a:endParaRPr lang="en-SG"/>
          </a:p>
        </p:txBody>
      </p:sp>
    </p:spTree>
    <p:extLst>
      <p:ext uri="{BB962C8B-B14F-4D97-AF65-F5344CB8AC3E}">
        <p14:creationId xmlns:p14="http://schemas.microsoft.com/office/powerpoint/2010/main" val="171851304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470998" y="1611460"/>
            <a:ext cx="18454330" cy="585027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470998" y="8057261"/>
            <a:ext cx="18454330" cy="1920430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470997" y="28053288"/>
            <a:ext cx="4814173" cy="1611452"/>
          </a:xfrm>
          <a:prstGeom prst="rect">
            <a:avLst/>
          </a:prstGeom>
        </p:spPr>
        <p:txBody>
          <a:bodyPr vert="horz" lIns="91440" tIns="45720" rIns="91440" bIns="45720" rtlCol="0" anchor="ctr"/>
          <a:lstStyle>
            <a:lvl1pPr algn="l">
              <a:defRPr sz="2808">
                <a:solidFill>
                  <a:schemeClr val="tx1">
                    <a:tint val="82000"/>
                  </a:schemeClr>
                </a:solidFill>
              </a:defRPr>
            </a:lvl1pPr>
          </a:lstStyle>
          <a:p>
            <a:fld id="{F62F998A-5FAD-4902-8CFC-7390833AF9A6}" type="datetimeFigureOut">
              <a:rPr lang="en-SG" smtClean="0"/>
              <a:t>13/10/2025</a:t>
            </a:fld>
            <a:endParaRPr lang="en-SG"/>
          </a:p>
        </p:txBody>
      </p:sp>
      <p:sp>
        <p:nvSpPr>
          <p:cNvPr id="5" name="Footer Placeholder 4"/>
          <p:cNvSpPr>
            <a:spLocks noGrp="1"/>
          </p:cNvSpPr>
          <p:nvPr>
            <p:ph type="ftr" sz="quarter" idx="3"/>
          </p:nvPr>
        </p:nvSpPr>
        <p:spPr>
          <a:xfrm>
            <a:off x="7087533" y="28053288"/>
            <a:ext cx="7221260" cy="1611452"/>
          </a:xfrm>
          <a:prstGeom prst="rect">
            <a:avLst/>
          </a:prstGeom>
        </p:spPr>
        <p:txBody>
          <a:bodyPr vert="horz" lIns="91440" tIns="45720" rIns="91440" bIns="45720" rtlCol="0" anchor="ctr"/>
          <a:lstStyle>
            <a:lvl1pPr algn="ctr">
              <a:defRPr sz="2808">
                <a:solidFill>
                  <a:schemeClr val="tx1">
                    <a:tint val="82000"/>
                  </a:schemeClr>
                </a:solidFill>
              </a:defRPr>
            </a:lvl1pPr>
          </a:lstStyle>
          <a:p>
            <a:endParaRPr lang="en-SG"/>
          </a:p>
        </p:txBody>
      </p:sp>
      <p:sp>
        <p:nvSpPr>
          <p:cNvPr id="6" name="Slide Number Placeholder 5"/>
          <p:cNvSpPr>
            <a:spLocks noGrp="1"/>
          </p:cNvSpPr>
          <p:nvPr>
            <p:ph type="sldNum" sz="quarter" idx="4"/>
          </p:nvPr>
        </p:nvSpPr>
        <p:spPr>
          <a:xfrm>
            <a:off x="15111155" y="28053288"/>
            <a:ext cx="4814173" cy="1611452"/>
          </a:xfrm>
          <a:prstGeom prst="rect">
            <a:avLst/>
          </a:prstGeom>
        </p:spPr>
        <p:txBody>
          <a:bodyPr vert="horz" lIns="91440" tIns="45720" rIns="91440" bIns="45720" rtlCol="0" anchor="ctr"/>
          <a:lstStyle>
            <a:lvl1pPr algn="r">
              <a:defRPr sz="2808">
                <a:solidFill>
                  <a:schemeClr val="tx1">
                    <a:tint val="82000"/>
                  </a:schemeClr>
                </a:solidFill>
              </a:defRPr>
            </a:lvl1pPr>
          </a:lstStyle>
          <a:p>
            <a:fld id="{75F9F7C3-877F-48D4-A587-89F1F0DBD513}" type="slidenum">
              <a:rPr lang="en-SG" smtClean="0"/>
              <a:t>‹#›</a:t>
            </a:fld>
            <a:endParaRPr lang="en-SG"/>
          </a:p>
        </p:txBody>
      </p:sp>
    </p:spTree>
    <p:extLst>
      <p:ext uri="{BB962C8B-B14F-4D97-AF65-F5344CB8AC3E}">
        <p14:creationId xmlns:p14="http://schemas.microsoft.com/office/powerpoint/2010/main" val="269769568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2139479" rtl="0" eaLnBrk="1" latinLnBrk="0" hangingPunct="1">
        <a:lnSpc>
          <a:spcPct val="90000"/>
        </a:lnSpc>
        <a:spcBef>
          <a:spcPct val="0"/>
        </a:spcBef>
        <a:buNone/>
        <a:defRPr sz="10296" kern="1200">
          <a:solidFill>
            <a:schemeClr val="tx1"/>
          </a:solidFill>
          <a:latin typeface="+mj-lt"/>
          <a:ea typeface="+mj-ea"/>
          <a:cs typeface="+mj-cs"/>
        </a:defRPr>
      </a:lvl1pPr>
    </p:titleStyle>
    <p:bodyStyle>
      <a:lvl1pPr marL="534870" indent="-534870" algn="l" defTabSz="2139479" rtl="0" eaLnBrk="1" latinLnBrk="0" hangingPunct="1">
        <a:lnSpc>
          <a:spcPct val="90000"/>
        </a:lnSpc>
        <a:spcBef>
          <a:spcPts val="2340"/>
        </a:spcBef>
        <a:buFont typeface="Arial" panose="020B0604020202020204" pitchFamily="34" charset="0"/>
        <a:buChar char="•"/>
        <a:defRPr sz="6552" kern="1200">
          <a:solidFill>
            <a:schemeClr val="tx1"/>
          </a:solidFill>
          <a:latin typeface="+mn-lt"/>
          <a:ea typeface="+mn-ea"/>
          <a:cs typeface="+mn-cs"/>
        </a:defRPr>
      </a:lvl1pPr>
      <a:lvl2pPr marL="1604608" indent="-534870" algn="l" defTabSz="2139479" rtl="0" eaLnBrk="1" latinLnBrk="0" hangingPunct="1">
        <a:lnSpc>
          <a:spcPct val="90000"/>
        </a:lnSpc>
        <a:spcBef>
          <a:spcPts val="1170"/>
        </a:spcBef>
        <a:buFont typeface="Arial" panose="020B0604020202020204" pitchFamily="34" charset="0"/>
        <a:buChar char="•"/>
        <a:defRPr sz="5615" kern="1200">
          <a:solidFill>
            <a:schemeClr val="tx1"/>
          </a:solidFill>
          <a:latin typeface="+mn-lt"/>
          <a:ea typeface="+mn-ea"/>
          <a:cs typeface="+mn-cs"/>
        </a:defRPr>
      </a:lvl2pPr>
      <a:lvl3pPr marL="2674349" indent="-534870" algn="l" defTabSz="2139479" rtl="0" eaLnBrk="1" latinLnBrk="0" hangingPunct="1">
        <a:lnSpc>
          <a:spcPct val="90000"/>
        </a:lnSpc>
        <a:spcBef>
          <a:spcPts val="1170"/>
        </a:spcBef>
        <a:buFont typeface="Arial" panose="020B0604020202020204" pitchFamily="34" charset="0"/>
        <a:buChar char="•"/>
        <a:defRPr sz="4679" kern="1200">
          <a:solidFill>
            <a:schemeClr val="tx1"/>
          </a:solidFill>
          <a:latin typeface="+mn-lt"/>
          <a:ea typeface="+mn-ea"/>
          <a:cs typeface="+mn-cs"/>
        </a:defRPr>
      </a:lvl3pPr>
      <a:lvl4pPr marL="3744088" indent="-534870" algn="l" defTabSz="2139479" rtl="0" eaLnBrk="1" latinLnBrk="0" hangingPunct="1">
        <a:lnSpc>
          <a:spcPct val="90000"/>
        </a:lnSpc>
        <a:spcBef>
          <a:spcPts val="1170"/>
        </a:spcBef>
        <a:buFont typeface="Arial" panose="020B0604020202020204" pitchFamily="34" charset="0"/>
        <a:buChar char="•"/>
        <a:defRPr sz="4212" kern="1200">
          <a:solidFill>
            <a:schemeClr val="tx1"/>
          </a:solidFill>
          <a:latin typeface="+mn-lt"/>
          <a:ea typeface="+mn-ea"/>
          <a:cs typeface="+mn-cs"/>
        </a:defRPr>
      </a:lvl4pPr>
      <a:lvl5pPr marL="4813827" indent="-534870" algn="l" defTabSz="2139479" rtl="0" eaLnBrk="1" latinLnBrk="0" hangingPunct="1">
        <a:lnSpc>
          <a:spcPct val="90000"/>
        </a:lnSpc>
        <a:spcBef>
          <a:spcPts val="1170"/>
        </a:spcBef>
        <a:buFont typeface="Arial" panose="020B0604020202020204" pitchFamily="34" charset="0"/>
        <a:buChar char="•"/>
        <a:defRPr sz="4212" kern="1200">
          <a:solidFill>
            <a:schemeClr val="tx1"/>
          </a:solidFill>
          <a:latin typeface="+mn-lt"/>
          <a:ea typeface="+mn-ea"/>
          <a:cs typeface="+mn-cs"/>
        </a:defRPr>
      </a:lvl5pPr>
      <a:lvl6pPr marL="5883568" indent="-534870" algn="l" defTabSz="2139479" rtl="0" eaLnBrk="1" latinLnBrk="0" hangingPunct="1">
        <a:lnSpc>
          <a:spcPct val="90000"/>
        </a:lnSpc>
        <a:spcBef>
          <a:spcPts val="1170"/>
        </a:spcBef>
        <a:buFont typeface="Arial" panose="020B0604020202020204" pitchFamily="34" charset="0"/>
        <a:buChar char="•"/>
        <a:defRPr sz="4212" kern="1200">
          <a:solidFill>
            <a:schemeClr val="tx1"/>
          </a:solidFill>
          <a:latin typeface="+mn-lt"/>
          <a:ea typeface="+mn-ea"/>
          <a:cs typeface="+mn-cs"/>
        </a:defRPr>
      </a:lvl6pPr>
      <a:lvl7pPr marL="6953306" indent="-534870" algn="l" defTabSz="2139479" rtl="0" eaLnBrk="1" latinLnBrk="0" hangingPunct="1">
        <a:lnSpc>
          <a:spcPct val="90000"/>
        </a:lnSpc>
        <a:spcBef>
          <a:spcPts val="1170"/>
        </a:spcBef>
        <a:buFont typeface="Arial" panose="020B0604020202020204" pitchFamily="34" charset="0"/>
        <a:buChar char="•"/>
        <a:defRPr sz="4212" kern="1200">
          <a:solidFill>
            <a:schemeClr val="tx1"/>
          </a:solidFill>
          <a:latin typeface="+mn-lt"/>
          <a:ea typeface="+mn-ea"/>
          <a:cs typeface="+mn-cs"/>
        </a:defRPr>
      </a:lvl7pPr>
      <a:lvl8pPr marL="8023046" indent="-534870" algn="l" defTabSz="2139479" rtl="0" eaLnBrk="1" latinLnBrk="0" hangingPunct="1">
        <a:lnSpc>
          <a:spcPct val="90000"/>
        </a:lnSpc>
        <a:spcBef>
          <a:spcPts val="1170"/>
        </a:spcBef>
        <a:buFont typeface="Arial" panose="020B0604020202020204" pitchFamily="34" charset="0"/>
        <a:buChar char="•"/>
        <a:defRPr sz="4212" kern="1200">
          <a:solidFill>
            <a:schemeClr val="tx1"/>
          </a:solidFill>
          <a:latin typeface="+mn-lt"/>
          <a:ea typeface="+mn-ea"/>
          <a:cs typeface="+mn-cs"/>
        </a:defRPr>
      </a:lvl8pPr>
      <a:lvl9pPr marL="9092785" indent="-534870" algn="l" defTabSz="2139479" rtl="0" eaLnBrk="1" latinLnBrk="0" hangingPunct="1">
        <a:lnSpc>
          <a:spcPct val="90000"/>
        </a:lnSpc>
        <a:spcBef>
          <a:spcPts val="1170"/>
        </a:spcBef>
        <a:buFont typeface="Arial" panose="020B0604020202020204" pitchFamily="34" charset="0"/>
        <a:buChar char="•"/>
        <a:defRPr sz="4212" kern="1200">
          <a:solidFill>
            <a:schemeClr val="tx1"/>
          </a:solidFill>
          <a:latin typeface="+mn-lt"/>
          <a:ea typeface="+mn-ea"/>
          <a:cs typeface="+mn-cs"/>
        </a:defRPr>
      </a:lvl9pPr>
    </p:bodyStyle>
    <p:otherStyle>
      <a:defPPr>
        <a:defRPr lang="en-US"/>
      </a:defPPr>
      <a:lvl1pPr marL="0" algn="l" defTabSz="2139479" rtl="0" eaLnBrk="1" latinLnBrk="0" hangingPunct="1">
        <a:defRPr sz="4212" kern="1200">
          <a:solidFill>
            <a:schemeClr val="tx1"/>
          </a:solidFill>
          <a:latin typeface="+mn-lt"/>
          <a:ea typeface="+mn-ea"/>
          <a:cs typeface="+mn-cs"/>
        </a:defRPr>
      </a:lvl1pPr>
      <a:lvl2pPr marL="1069740" algn="l" defTabSz="2139479" rtl="0" eaLnBrk="1" latinLnBrk="0" hangingPunct="1">
        <a:defRPr sz="4212" kern="1200">
          <a:solidFill>
            <a:schemeClr val="tx1"/>
          </a:solidFill>
          <a:latin typeface="+mn-lt"/>
          <a:ea typeface="+mn-ea"/>
          <a:cs typeface="+mn-cs"/>
        </a:defRPr>
      </a:lvl2pPr>
      <a:lvl3pPr marL="2139479" algn="l" defTabSz="2139479" rtl="0" eaLnBrk="1" latinLnBrk="0" hangingPunct="1">
        <a:defRPr sz="4212" kern="1200">
          <a:solidFill>
            <a:schemeClr val="tx1"/>
          </a:solidFill>
          <a:latin typeface="+mn-lt"/>
          <a:ea typeface="+mn-ea"/>
          <a:cs typeface="+mn-cs"/>
        </a:defRPr>
      </a:lvl3pPr>
      <a:lvl4pPr marL="3209219" algn="l" defTabSz="2139479" rtl="0" eaLnBrk="1" latinLnBrk="0" hangingPunct="1">
        <a:defRPr sz="4212" kern="1200">
          <a:solidFill>
            <a:schemeClr val="tx1"/>
          </a:solidFill>
          <a:latin typeface="+mn-lt"/>
          <a:ea typeface="+mn-ea"/>
          <a:cs typeface="+mn-cs"/>
        </a:defRPr>
      </a:lvl4pPr>
      <a:lvl5pPr marL="4278957" algn="l" defTabSz="2139479" rtl="0" eaLnBrk="1" latinLnBrk="0" hangingPunct="1">
        <a:defRPr sz="4212" kern="1200">
          <a:solidFill>
            <a:schemeClr val="tx1"/>
          </a:solidFill>
          <a:latin typeface="+mn-lt"/>
          <a:ea typeface="+mn-ea"/>
          <a:cs typeface="+mn-cs"/>
        </a:defRPr>
      </a:lvl5pPr>
      <a:lvl6pPr marL="5348697" algn="l" defTabSz="2139479" rtl="0" eaLnBrk="1" latinLnBrk="0" hangingPunct="1">
        <a:defRPr sz="4212" kern="1200">
          <a:solidFill>
            <a:schemeClr val="tx1"/>
          </a:solidFill>
          <a:latin typeface="+mn-lt"/>
          <a:ea typeface="+mn-ea"/>
          <a:cs typeface="+mn-cs"/>
        </a:defRPr>
      </a:lvl6pPr>
      <a:lvl7pPr marL="6418437" algn="l" defTabSz="2139479" rtl="0" eaLnBrk="1" latinLnBrk="0" hangingPunct="1">
        <a:defRPr sz="4212" kern="1200">
          <a:solidFill>
            <a:schemeClr val="tx1"/>
          </a:solidFill>
          <a:latin typeface="+mn-lt"/>
          <a:ea typeface="+mn-ea"/>
          <a:cs typeface="+mn-cs"/>
        </a:defRPr>
      </a:lvl7pPr>
      <a:lvl8pPr marL="7488176" algn="l" defTabSz="2139479" rtl="0" eaLnBrk="1" latinLnBrk="0" hangingPunct="1">
        <a:defRPr sz="4212" kern="1200">
          <a:solidFill>
            <a:schemeClr val="tx1"/>
          </a:solidFill>
          <a:latin typeface="+mn-lt"/>
          <a:ea typeface="+mn-ea"/>
          <a:cs typeface="+mn-cs"/>
        </a:defRPr>
      </a:lvl8pPr>
      <a:lvl9pPr marL="8557916" algn="l" defTabSz="2139479" rtl="0" eaLnBrk="1" latinLnBrk="0" hangingPunct="1">
        <a:defRPr sz="4212"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5.png"/><Relationship Id="rId13" Type="http://schemas.openxmlformats.org/officeDocument/2006/relationships/image" Target="../media/image10.png"/><Relationship Id="rId3" Type="http://schemas.openxmlformats.org/officeDocument/2006/relationships/image" Target="../media/image1.png"/><Relationship Id="rId7" Type="http://schemas.openxmlformats.org/officeDocument/2006/relationships/image" Target="../media/image4.png"/><Relationship Id="rId12" Type="http://schemas.openxmlformats.org/officeDocument/2006/relationships/image" Target="../media/image9.png"/><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image" Target="../media/image3.png"/><Relationship Id="rId11" Type="http://schemas.openxmlformats.org/officeDocument/2006/relationships/image" Target="../media/image8.jpg"/><Relationship Id="rId5" Type="http://schemas.openxmlformats.org/officeDocument/2006/relationships/image" Target="../media/image2.png"/><Relationship Id="rId10" Type="http://schemas.openxmlformats.org/officeDocument/2006/relationships/image" Target="../media/image7.png"/><Relationship Id="rId4" Type="http://schemas.openxmlformats.org/officeDocument/2006/relationships/customXml" Target="../ink/ink1.xml"/><Relationship Id="rId9" Type="http://schemas.openxmlformats.org/officeDocument/2006/relationships/image" Target="../media/image6.jp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 name="Picture 20" descr="A white rectangular frame with a red and blue border&#10;&#10;Description automatically generated">
            <a:extLst>
              <a:ext uri="{FF2B5EF4-FFF2-40B4-BE49-F238E27FC236}">
                <a16:creationId xmlns:a16="http://schemas.microsoft.com/office/drawing/2014/main" id="{D2E9042C-BA3A-0A7C-1047-73512CC2CF3A}"/>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a:xfrm>
            <a:off x="27514" y="17743"/>
            <a:ext cx="21396324" cy="30249532"/>
          </a:xfrm>
          <a:custGeom>
            <a:avLst/>
            <a:gdLst>
              <a:gd name="connsiteX0" fmla="*/ 1519706 w 21396324"/>
              <a:gd name="connsiteY0" fmla="*/ 829251 h 30249532"/>
              <a:gd name="connsiteX1" fmla="*/ 1519706 w 21396324"/>
              <a:gd name="connsiteY1" fmla="*/ 2968732 h 30249532"/>
              <a:gd name="connsiteX2" fmla="*/ 6426558 w 21396324"/>
              <a:gd name="connsiteY2" fmla="*/ 2968732 h 30249532"/>
              <a:gd name="connsiteX3" fmla="*/ 6426558 w 21396324"/>
              <a:gd name="connsiteY3" fmla="*/ 829251 h 30249532"/>
              <a:gd name="connsiteX4" fmla="*/ 0 w 21396324"/>
              <a:gd name="connsiteY4" fmla="*/ 0 h 30249532"/>
              <a:gd name="connsiteX5" fmla="*/ 21396324 w 21396324"/>
              <a:gd name="connsiteY5" fmla="*/ 0 h 30249532"/>
              <a:gd name="connsiteX6" fmla="*/ 21396324 w 21396324"/>
              <a:gd name="connsiteY6" fmla="*/ 30249532 h 30249532"/>
              <a:gd name="connsiteX7" fmla="*/ 0 w 21396324"/>
              <a:gd name="connsiteY7" fmla="*/ 30249532 h 302495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1396324" h="30249532">
                <a:moveTo>
                  <a:pt x="1519706" y="829251"/>
                </a:moveTo>
                <a:lnTo>
                  <a:pt x="1519706" y="2968732"/>
                </a:lnTo>
                <a:lnTo>
                  <a:pt x="6426558" y="2968732"/>
                </a:lnTo>
                <a:lnTo>
                  <a:pt x="6426558" y="829251"/>
                </a:lnTo>
                <a:close/>
                <a:moveTo>
                  <a:pt x="0" y="0"/>
                </a:moveTo>
                <a:lnTo>
                  <a:pt x="21396324" y="0"/>
                </a:lnTo>
                <a:lnTo>
                  <a:pt x="21396324" y="30249532"/>
                </a:lnTo>
                <a:lnTo>
                  <a:pt x="0" y="30249532"/>
                </a:lnTo>
                <a:close/>
              </a:path>
            </a:pathLst>
          </a:custGeom>
        </p:spPr>
      </p:pic>
      <p:sp>
        <p:nvSpPr>
          <p:cNvPr id="6" name="TextBox 5">
            <a:extLst>
              <a:ext uri="{FF2B5EF4-FFF2-40B4-BE49-F238E27FC236}">
                <a16:creationId xmlns:a16="http://schemas.microsoft.com/office/drawing/2014/main" id="{F8A9C75F-D22E-AA36-D3A1-91AE7A1983B8}"/>
              </a:ext>
            </a:extLst>
          </p:cNvPr>
          <p:cNvSpPr txBox="1"/>
          <p:nvPr/>
        </p:nvSpPr>
        <p:spPr>
          <a:xfrm>
            <a:off x="7691360" y="770556"/>
            <a:ext cx="13087347" cy="1569660"/>
          </a:xfrm>
          <a:prstGeom prst="rect">
            <a:avLst/>
          </a:prstGeom>
          <a:noFill/>
        </p:spPr>
        <p:txBody>
          <a:bodyPr wrap="square" rtlCol="0">
            <a:spAutoFit/>
          </a:bodyPr>
          <a:lstStyle/>
          <a:p>
            <a:pPr algn="ctr"/>
            <a:r>
              <a:rPr lang="en-US" sz="4800" b="1" dirty="0">
                <a:latin typeface="Times New Roman" panose="02020603050405020304" pitchFamily="18" charset="0"/>
                <a:cs typeface="Times New Roman" panose="02020603050405020304" pitchFamily="18" charset="0"/>
              </a:rPr>
              <a:t>ZETAS: Zero Trust Framework for Autonomous Systems with Shared Cyber Attack Surfaces</a:t>
            </a:r>
            <a:endParaRPr lang="en-SG" sz="4800" b="1" dirty="0">
              <a:latin typeface="Times New Roman" panose="02020603050405020304" pitchFamily="18" charset="0"/>
              <a:cs typeface="Times New Roman" panose="02020603050405020304" pitchFamily="18" charset="0"/>
            </a:endParaRPr>
          </a:p>
        </p:txBody>
      </p:sp>
      <mc:AlternateContent xmlns:mc="http://schemas.openxmlformats.org/markup-compatibility/2006" xmlns:p14="http://schemas.microsoft.com/office/powerpoint/2010/main">
        <mc:Choice Requires="p14">
          <p:contentPart p14:bwMode="auto" r:id="rId4">
            <p14:nvContentPartPr>
              <p14:cNvPr id="4" name="Ink 3">
                <a:extLst>
                  <a:ext uri="{FF2B5EF4-FFF2-40B4-BE49-F238E27FC236}">
                    <a16:creationId xmlns:a16="http://schemas.microsoft.com/office/drawing/2014/main" id="{46464553-6FF0-29F2-B12F-6714A862C002}"/>
                  </a:ext>
                </a:extLst>
              </p14:cNvPr>
              <p14:cNvContentPartPr/>
              <p14:nvPr/>
            </p14:nvContentPartPr>
            <p14:xfrm>
              <a:off x="4778219" y="2048005"/>
              <a:ext cx="360" cy="360"/>
            </p14:xfrm>
          </p:contentPart>
        </mc:Choice>
        <mc:Fallback xmlns="">
          <p:pic>
            <p:nvPicPr>
              <p:cNvPr id="4" name="Ink 3">
                <a:extLst>
                  <a:ext uri="{FF2B5EF4-FFF2-40B4-BE49-F238E27FC236}">
                    <a16:creationId xmlns:a16="http://schemas.microsoft.com/office/drawing/2014/main" id="{46464553-6FF0-29F2-B12F-6714A862C002}"/>
                  </a:ext>
                </a:extLst>
              </p:cNvPr>
              <p:cNvPicPr/>
              <p:nvPr/>
            </p:nvPicPr>
            <p:blipFill>
              <a:blip r:embed="rId5"/>
              <a:stretch>
                <a:fillRect/>
              </a:stretch>
            </p:blipFill>
            <p:spPr>
              <a:xfrm>
                <a:off x="4715219" y="1985005"/>
                <a:ext cx="126000" cy="126000"/>
              </a:xfrm>
              <a:prstGeom prst="rect">
                <a:avLst/>
              </a:prstGeom>
            </p:spPr>
          </p:pic>
        </mc:Fallback>
      </mc:AlternateContent>
      <p:pic>
        <p:nvPicPr>
          <p:cNvPr id="2" name="Picture 2" descr="Visual Intelligence">
            <a:extLst>
              <a:ext uri="{FF2B5EF4-FFF2-40B4-BE49-F238E27FC236}">
                <a16:creationId xmlns:a16="http://schemas.microsoft.com/office/drawing/2014/main" id="{F7415D99-50E1-CB1D-D240-3A3460C9F12D}"/>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176147" y="723591"/>
            <a:ext cx="3976517" cy="1470561"/>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4" descr="Download Nanyang Technological University (NTU) Logo in SVG Vector or PNG  File Format - Logo.wine">
            <a:extLst>
              <a:ext uri="{FF2B5EF4-FFF2-40B4-BE49-F238E27FC236}">
                <a16:creationId xmlns:a16="http://schemas.microsoft.com/office/drawing/2014/main" id="{23B0897C-95D3-4009-F38E-AB141068BAA7}"/>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78715" y="505276"/>
            <a:ext cx="3397432" cy="2264955"/>
          </a:xfrm>
          <a:prstGeom prst="rect">
            <a:avLst/>
          </a:prstGeom>
          <a:noFill/>
          <a:extLst>
            <a:ext uri="{909E8E84-426E-40DD-AFC4-6F175D3DCCD1}">
              <a14:hiddenFill xmlns:a14="http://schemas.microsoft.com/office/drawing/2010/main">
                <a:solidFill>
                  <a:srgbClr val="FFFFFF"/>
                </a:solidFill>
              </a14:hiddenFill>
            </a:ext>
          </a:extLst>
        </p:spPr>
      </p:pic>
      <p:cxnSp>
        <p:nvCxnSpPr>
          <p:cNvPr id="8" name="Straight Connector 7">
            <a:extLst>
              <a:ext uri="{FF2B5EF4-FFF2-40B4-BE49-F238E27FC236}">
                <a16:creationId xmlns:a16="http://schemas.microsoft.com/office/drawing/2014/main" id="{C89A1A13-6803-78DF-B973-8CCDE9BFC5E4}"/>
              </a:ext>
            </a:extLst>
          </p:cNvPr>
          <p:cNvCxnSpPr>
            <a:cxnSpLocks/>
          </p:cNvCxnSpPr>
          <p:nvPr/>
        </p:nvCxnSpPr>
        <p:spPr>
          <a:xfrm>
            <a:off x="3951237" y="900576"/>
            <a:ext cx="0" cy="1324413"/>
          </a:xfrm>
          <a:prstGeom prst="line">
            <a:avLst/>
          </a:prstGeom>
        </p:spPr>
        <p:style>
          <a:lnRef idx="2">
            <a:schemeClr val="accent1"/>
          </a:lnRef>
          <a:fillRef idx="0">
            <a:schemeClr val="accent1"/>
          </a:fillRef>
          <a:effectRef idx="1">
            <a:schemeClr val="accent1"/>
          </a:effectRef>
          <a:fontRef idx="minor">
            <a:schemeClr val="tx1"/>
          </a:fontRef>
        </p:style>
      </p:cxnSp>
      <p:sp>
        <p:nvSpPr>
          <p:cNvPr id="13" name="TextBox 12">
            <a:extLst>
              <a:ext uri="{FF2B5EF4-FFF2-40B4-BE49-F238E27FC236}">
                <a16:creationId xmlns:a16="http://schemas.microsoft.com/office/drawing/2014/main" id="{CB1A015C-5BB6-ECC0-999E-B3B7A31773E7}"/>
              </a:ext>
            </a:extLst>
          </p:cNvPr>
          <p:cNvSpPr txBox="1"/>
          <p:nvPr/>
        </p:nvSpPr>
        <p:spPr>
          <a:xfrm>
            <a:off x="12704614" y="8884246"/>
            <a:ext cx="5676765" cy="400110"/>
          </a:xfrm>
          <a:prstGeom prst="rect">
            <a:avLst/>
          </a:prstGeom>
          <a:noFill/>
        </p:spPr>
        <p:txBody>
          <a:bodyPr wrap="square" rtlCol="0">
            <a:spAutoFit/>
          </a:bodyPr>
          <a:lstStyle/>
          <a:p>
            <a:r>
              <a:rPr lang="en-IN" sz="2000" dirty="0">
                <a:latin typeface="Times New Roman" panose="02020603050405020304" pitchFamily="18" charset="0"/>
                <a:cs typeface="Times New Roman" panose="02020603050405020304" pitchFamily="18" charset="0"/>
              </a:rPr>
              <a:t>Figure 1: Zero Trust Architecture Diagram</a:t>
            </a:r>
          </a:p>
        </p:txBody>
      </p:sp>
      <p:sp>
        <p:nvSpPr>
          <p:cNvPr id="24" name="TextBox 23">
            <a:extLst>
              <a:ext uri="{FF2B5EF4-FFF2-40B4-BE49-F238E27FC236}">
                <a16:creationId xmlns:a16="http://schemas.microsoft.com/office/drawing/2014/main" id="{E77D686C-0618-34DE-E02E-C746321BFCE1}"/>
              </a:ext>
            </a:extLst>
          </p:cNvPr>
          <p:cNvSpPr txBox="1"/>
          <p:nvPr/>
        </p:nvSpPr>
        <p:spPr>
          <a:xfrm>
            <a:off x="11485215" y="15916823"/>
            <a:ext cx="7295461" cy="400110"/>
          </a:xfrm>
          <a:prstGeom prst="rect">
            <a:avLst/>
          </a:prstGeom>
          <a:noFill/>
        </p:spPr>
        <p:txBody>
          <a:bodyPr wrap="square" rtlCol="0">
            <a:spAutoFit/>
          </a:bodyPr>
          <a:lstStyle/>
          <a:p>
            <a:r>
              <a:rPr lang="en-IN" sz="2000" dirty="0">
                <a:latin typeface="Times New Roman" panose="02020603050405020304" pitchFamily="18" charset="0"/>
                <a:cs typeface="Times New Roman" panose="02020603050405020304" pitchFamily="18" charset="0"/>
              </a:rPr>
              <a:t>Figure 2: Proposed </a:t>
            </a:r>
            <a:r>
              <a:rPr lang="en-US" sz="2000" dirty="0">
                <a:latin typeface="Times New Roman" panose="02020603050405020304" pitchFamily="18" charset="0"/>
                <a:cs typeface="Times New Roman" panose="02020603050405020304" pitchFamily="18" charset="0"/>
              </a:rPr>
              <a:t>ZETAS framework for Smart Factory application</a:t>
            </a:r>
            <a:endParaRPr lang="en-IN" sz="2000" dirty="0">
              <a:latin typeface="Times New Roman" panose="02020603050405020304" pitchFamily="18" charset="0"/>
              <a:cs typeface="Times New Roman" panose="02020603050405020304" pitchFamily="18" charset="0"/>
            </a:endParaRPr>
          </a:p>
        </p:txBody>
      </p:sp>
      <p:graphicFrame>
        <p:nvGraphicFramePr>
          <p:cNvPr id="14" name="Table 13">
            <a:extLst>
              <a:ext uri="{FF2B5EF4-FFF2-40B4-BE49-F238E27FC236}">
                <a16:creationId xmlns:a16="http://schemas.microsoft.com/office/drawing/2014/main" id="{FD724969-3D76-D79B-6A31-8F82504AD68D}"/>
              </a:ext>
            </a:extLst>
          </p:cNvPr>
          <p:cNvGraphicFramePr>
            <a:graphicFrameLocks noGrp="1"/>
          </p:cNvGraphicFramePr>
          <p:nvPr>
            <p:extLst>
              <p:ext uri="{D42A27DB-BD31-4B8C-83A1-F6EECF244321}">
                <p14:modId xmlns:p14="http://schemas.microsoft.com/office/powerpoint/2010/main" val="4133487048"/>
              </p:ext>
            </p:extLst>
          </p:nvPr>
        </p:nvGraphicFramePr>
        <p:xfrm>
          <a:off x="864860" y="16291189"/>
          <a:ext cx="19665126" cy="4714144"/>
        </p:xfrm>
        <a:graphic>
          <a:graphicData uri="http://schemas.openxmlformats.org/drawingml/2006/table">
            <a:tbl>
              <a:tblPr/>
              <a:tblGrid>
                <a:gridCol w="4175182">
                  <a:extLst>
                    <a:ext uri="{9D8B030D-6E8A-4147-A177-3AD203B41FA5}">
                      <a16:colId xmlns:a16="http://schemas.microsoft.com/office/drawing/2014/main" val="2622308785"/>
                    </a:ext>
                  </a:extLst>
                </a:gridCol>
                <a:gridCol w="4640768">
                  <a:extLst>
                    <a:ext uri="{9D8B030D-6E8A-4147-A177-3AD203B41FA5}">
                      <a16:colId xmlns:a16="http://schemas.microsoft.com/office/drawing/2014/main" val="362865303"/>
                    </a:ext>
                  </a:extLst>
                </a:gridCol>
                <a:gridCol w="5882995">
                  <a:extLst>
                    <a:ext uri="{9D8B030D-6E8A-4147-A177-3AD203B41FA5}">
                      <a16:colId xmlns:a16="http://schemas.microsoft.com/office/drawing/2014/main" val="681741174"/>
                    </a:ext>
                  </a:extLst>
                </a:gridCol>
                <a:gridCol w="4966181">
                  <a:extLst>
                    <a:ext uri="{9D8B030D-6E8A-4147-A177-3AD203B41FA5}">
                      <a16:colId xmlns:a16="http://schemas.microsoft.com/office/drawing/2014/main" val="3631241590"/>
                    </a:ext>
                  </a:extLst>
                </a:gridCol>
              </a:tblGrid>
              <a:tr h="519729">
                <a:tc>
                  <a:txBody>
                    <a:bodyPr/>
                    <a:lstStyle/>
                    <a:p>
                      <a:r>
                        <a:rPr lang="en-IN" sz="2400" b="1" dirty="0">
                          <a:latin typeface="Times New Roman" panose="02020603050405020304" pitchFamily="18" charset="0"/>
                          <a:cs typeface="Times New Roman" panose="02020603050405020304" pitchFamily="18" charset="0"/>
                        </a:rPr>
                        <a:t>Potential Attack</a:t>
                      </a:r>
                      <a:endParaRPr lang="en-IN" sz="2400" dirty="0">
                        <a:latin typeface="Times New Roman" panose="02020603050405020304" pitchFamily="18" charset="0"/>
                        <a:cs typeface="Times New Roman" panose="02020603050405020304" pitchFamily="18" charset="0"/>
                      </a:endParaRPr>
                    </a:p>
                  </a:txBody>
                  <a:tcPr anchor="ctr">
                    <a:lnL>
                      <a:noFill/>
                    </a:lnL>
                    <a:lnR>
                      <a:noFill/>
                    </a:lnR>
                    <a:lnT>
                      <a:noFill/>
                    </a:lnT>
                    <a:lnB w="12700" cap="flat" cmpd="sng" algn="ctr">
                      <a:solidFill>
                        <a:schemeClr val="tx1"/>
                      </a:solidFill>
                      <a:prstDash val="solid"/>
                      <a:round/>
                      <a:headEnd type="none" w="med" len="med"/>
                      <a:tailEnd type="none" w="med" len="med"/>
                    </a:lnB>
                    <a:noFill/>
                  </a:tcPr>
                </a:tc>
                <a:tc>
                  <a:txBody>
                    <a:bodyPr/>
                    <a:lstStyle/>
                    <a:p>
                      <a:r>
                        <a:rPr lang="en-IN" sz="2400" b="1" dirty="0">
                          <a:latin typeface="Times New Roman" panose="02020603050405020304" pitchFamily="18" charset="0"/>
                          <a:cs typeface="Times New Roman" panose="02020603050405020304" pitchFamily="18" charset="0"/>
                        </a:rPr>
                        <a:t>STRIDE</a:t>
                      </a:r>
                      <a:endParaRPr lang="en-IN" sz="2400" dirty="0">
                        <a:latin typeface="Times New Roman" panose="02020603050405020304" pitchFamily="18" charset="0"/>
                        <a:cs typeface="Times New Roman" panose="02020603050405020304" pitchFamily="18" charset="0"/>
                      </a:endParaRPr>
                    </a:p>
                  </a:txBody>
                  <a:tcPr anchor="ctr">
                    <a:lnL>
                      <a:noFill/>
                    </a:lnL>
                    <a:lnR>
                      <a:noFill/>
                    </a:lnR>
                    <a:lnT>
                      <a:noFill/>
                    </a:lnT>
                    <a:lnB w="12700" cap="flat" cmpd="sng" algn="ctr">
                      <a:solidFill>
                        <a:schemeClr val="tx1"/>
                      </a:solidFill>
                      <a:prstDash val="solid"/>
                      <a:round/>
                      <a:headEnd type="none" w="med" len="med"/>
                      <a:tailEnd type="none" w="med" len="med"/>
                    </a:lnB>
                    <a:noFill/>
                  </a:tcPr>
                </a:tc>
                <a:tc>
                  <a:txBody>
                    <a:bodyPr/>
                    <a:lstStyle/>
                    <a:p>
                      <a:r>
                        <a:rPr lang="en-IN" sz="2400" b="1" dirty="0">
                          <a:latin typeface="Times New Roman" panose="02020603050405020304" pitchFamily="18" charset="0"/>
                          <a:cs typeface="Times New Roman" panose="02020603050405020304" pitchFamily="18" charset="0"/>
                        </a:rPr>
                        <a:t>Impact</a:t>
                      </a:r>
                      <a:endParaRPr lang="en-IN" sz="2400" dirty="0">
                        <a:latin typeface="Times New Roman" panose="02020603050405020304" pitchFamily="18" charset="0"/>
                        <a:cs typeface="Times New Roman" panose="02020603050405020304" pitchFamily="18" charset="0"/>
                      </a:endParaRPr>
                    </a:p>
                  </a:txBody>
                  <a:tcPr anchor="ctr">
                    <a:lnL>
                      <a:noFill/>
                    </a:lnL>
                    <a:lnR>
                      <a:noFill/>
                    </a:lnR>
                    <a:lnT>
                      <a:noFill/>
                    </a:lnT>
                    <a:lnB w="12700" cap="flat" cmpd="sng" algn="ctr">
                      <a:solidFill>
                        <a:schemeClr val="tx1"/>
                      </a:solidFill>
                      <a:prstDash val="solid"/>
                      <a:round/>
                      <a:headEnd type="none" w="med" len="med"/>
                      <a:tailEnd type="none" w="med" len="med"/>
                    </a:lnB>
                    <a:noFill/>
                  </a:tcPr>
                </a:tc>
                <a:tc>
                  <a:txBody>
                    <a:bodyPr/>
                    <a:lstStyle/>
                    <a:p>
                      <a:r>
                        <a:rPr lang="en-IN" sz="2400" b="1" dirty="0">
                          <a:latin typeface="Times New Roman" panose="02020603050405020304" pitchFamily="18" charset="0"/>
                          <a:cs typeface="Times New Roman" panose="02020603050405020304" pitchFamily="18" charset="0"/>
                        </a:rPr>
                        <a:t>ZTA Defence</a:t>
                      </a:r>
                      <a:endParaRPr lang="en-IN" sz="2400" dirty="0">
                        <a:latin typeface="Times New Roman" panose="02020603050405020304" pitchFamily="18" charset="0"/>
                        <a:cs typeface="Times New Roman" panose="02020603050405020304" pitchFamily="18" charset="0"/>
                      </a:endParaRPr>
                    </a:p>
                  </a:txBody>
                  <a:tcPr anchor="ctr">
                    <a:lnL>
                      <a:noFill/>
                    </a:lnL>
                    <a:lnR>
                      <a:noFill/>
                    </a:lnR>
                    <a:lnT>
                      <a:noFill/>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637297242"/>
                  </a:ext>
                </a:extLst>
              </a:tr>
              <a:tr h="838883">
                <a:tc>
                  <a:txBody>
                    <a:bodyPr/>
                    <a:lstStyle/>
                    <a:p>
                      <a:r>
                        <a:rPr lang="en-US" sz="2400" dirty="0">
                          <a:latin typeface="Times New Roman" panose="02020603050405020304" pitchFamily="18" charset="0"/>
                          <a:cs typeface="Times New Roman" panose="02020603050405020304" pitchFamily="18" charset="0"/>
                        </a:rPr>
                        <a:t>Command Injection from Compromised Wi-Fi → AGV</a:t>
                      </a:r>
                    </a:p>
                  </a:txBody>
                  <a:tcPr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sz="2400" dirty="0">
                          <a:latin typeface="Times New Roman" panose="02020603050405020304" pitchFamily="18" charset="0"/>
                          <a:cs typeface="Times New Roman" panose="02020603050405020304" pitchFamily="18" charset="0"/>
                        </a:rPr>
                        <a:t>Tampering, Elevation of Privilege, Information Disclosure</a:t>
                      </a:r>
                    </a:p>
                  </a:txBody>
                  <a:tcPr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sz="2400" dirty="0">
                          <a:latin typeface="Times New Roman" panose="02020603050405020304" pitchFamily="18" charset="0"/>
                          <a:cs typeface="Times New Roman" panose="02020603050405020304" pitchFamily="18" charset="0"/>
                        </a:rPr>
                        <a:t>Rogue navigation commands can cause collisions or data theft</a:t>
                      </a:r>
                    </a:p>
                  </a:txBody>
                  <a:tcPr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sz="2400" b="0" i="1" dirty="0">
                          <a:latin typeface="Times New Roman" panose="02020603050405020304" pitchFamily="18" charset="0"/>
                          <a:cs typeface="Times New Roman" panose="02020603050405020304" pitchFamily="18" charset="0"/>
                        </a:rPr>
                        <a:t>Continuous Monitoring + Mutual Attestation</a:t>
                      </a:r>
                    </a:p>
                  </a:txBody>
                  <a:tcPr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52124429"/>
                  </a:ext>
                </a:extLst>
              </a:tr>
              <a:tr h="838883">
                <a:tc>
                  <a:txBody>
                    <a:bodyPr/>
                    <a:lstStyle/>
                    <a:p>
                      <a:r>
                        <a:rPr lang="en-US" sz="2400" dirty="0">
                          <a:latin typeface="Times New Roman" panose="02020603050405020304" pitchFamily="18" charset="0"/>
                          <a:cs typeface="Times New Roman" panose="02020603050405020304" pitchFamily="18" charset="0"/>
                        </a:rPr>
                        <a:t>Spoofed Data Injection from Sensor → Robot</a:t>
                      </a:r>
                    </a:p>
                  </a:txBody>
                  <a:tcPr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sz="2400" dirty="0">
                          <a:latin typeface="Times New Roman" panose="02020603050405020304" pitchFamily="18" charset="0"/>
                          <a:cs typeface="Times New Roman" panose="02020603050405020304" pitchFamily="18" charset="0"/>
                        </a:rPr>
                        <a:t>Spoofing, Tampering</a:t>
                      </a:r>
                    </a:p>
                  </a:txBody>
                  <a:tcPr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2400" dirty="0">
                          <a:latin typeface="Times New Roman" panose="02020603050405020304" pitchFamily="18" charset="0"/>
                          <a:cs typeface="Times New Roman" panose="02020603050405020304" pitchFamily="18" charset="0"/>
                        </a:rPr>
                        <a:t>Robots act on fake commands or manipulated sensor data</a:t>
                      </a:r>
                    </a:p>
                  </a:txBody>
                  <a:tcPr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sz="2400" b="0" i="1" dirty="0">
                          <a:latin typeface="Times New Roman" panose="02020603050405020304" pitchFamily="18" charset="0"/>
                          <a:cs typeface="Times New Roman" panose="02020603050405020304" pitchFamily="18" charset="0"/>
                        </a:rPr>
                        <a:t>Policy Enforcement Point (PEP) + Least Privilege Access</a:t>
                      </a:r>
                    </a:p>
                  </a:txBody>
                  <a:tcPr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834850832"/>
                  </a:ext>
                </a:extLst>
              </a:tr>
              <a:tr h="838883">
                <a:tc>
                  <a:txBody>
                    <a:bodyPr/>
                    <a:lstStyle/>
                    <a:p>
                      <a:r>
                        <a:rPr lang="en-US" sz="2400" dirty="0">
                          <a:latin typeface="Times New Roman" panose="02020603050405020304" pitchFamily="18" charset="0"/>
                          <a:cs typeface="Times New Roman" panose="02020603050405020304" pitchFamily="18" charset="0"/>
                        </a:rPr>
                        <a:t>Replay Attack from Compromised Camera → AGV</a:t>
                      </a:r>
                    </a:p>
                  </a:txBody>
                  <a:tcPr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sz="2400" dirty="0">
                          <a:latin typeface="Times New Roman" panose="02020603050405020304" pitchFamily="18" charset="0"/>
                          <a:cs typeface="Times New Roman" panose="02020603050405020304" pitchFamily="18" charset="0"/>
                        </a:rPr>
                        <a:t>Tampering, Spoofing</a:t>
                      </a:r>
                    </a:p>
                  </a:txBody>
                  <a:tcPr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2400" dirty="0">
                          <a:latin typeface="Times New Roman" panose="02020603050405020304" pitchFamily="18" charset="0"/>
                          <a:cs typeface="Times New Roman" panose="02020603050405020304" pitchFamily="18" charset="0"/>
                        </a:rPr>
                        <a:t>Repeated actions cause inventory misplacement or redundant AGV movements</a:t>
                      </a:r>
                    </a:p>
                  </a:txBody>
                  <a:tcPr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sz="2400" b="0" i="1" dirty="0">
                          <a:latin typeface="Times New Roman" panose="02020603050405020304" pitchFamily="18" charset="0"/>
                          <a:cs typeface="Times New Roman" panose="02020603050405020304" pitchFamily="18" charset="0"/>
                        </a:rPr>
                        <a:t>Mutual Attestation + Continuous Monitoring</a:t>
                      </a:r>
                    </a:p>
                  </a:txBody>
                  <a:tcPr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611806557"/>
                  </a:ext>
                </a:extLst>
              </a:tr>
              <a:tr h="838883">
                <a:tc>
                  <a:txBody>
                    <a:bodyPr/>
                    <a:lstStyle/>
                    <a:p>
                      <a:r>
                        <a:rPr lang="en-US" sz="2400" dirty="0">
                          <a:latin typeface="Times New Roman" panose="02020603050405020304" pitchFamily="18" charset="0"/>
                          <a:cs typeface="Times New Roman" panose="02020603050405020304" pitchFamily="18" charset="0"/>
                        </a:rPr>
                        <a:t>Command Injection from XR Interface → Robots</a:t>
                      </a:r>
                    </a:p>
                  </a:txBody>
                  <a:tcPr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sz="2400" dirty="0">
                          <a:latin typeface="Times New Roman" panose="02020603050405020304" pitchFamily="18" charset="0"/>
                          <a:cs typeface="Times New Roman" panose="02020603050405020304" pitchFamily="18" charset="0"/>
                        </a:rPr>
                        <a:t>Elevation of Privilege, Tampering, Repudiation</a:t>
                      </a:r>
                    </a:p>
                  </a:txBody>
                  <a:tcPr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2400" dirty="0">
                          <a:latin typeface="Times New Roman" panose="02020603050405020304" pitchFamily="18" charset="0"/>
                          <a:cs typeface="Times New Roman" panose="02020603050405020304" pitchFamily="18" charset="0"/>
                        </a:rPr>
                        <a:t>Malicious XR sends unauthorized start/stop or reprogramming commands</a:t>
                      </a:r>
                    </a:p>
                  </a:txBody>
                  <a:tcPr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sz="2400" b="0" i="1" dirty="0">
                          <a:latin typeface="Times New Roman" panose="02020603050405020304" pitchFamily="18" charset="0"/>
                          <a:cs typeface="Times New Roman" panose="02020603050405020304" pitchFamily="18" charset="0"/>
                        </a:rPr>
                        <a:t>Micro-segmentation + Least Privilege Access + Mutual Attestation</a:t>
                      </a:r>
                    </a:p>
                  </a:txBody>
                  <a:tcPr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616237290"/>
                  </a:ext>
                </a:extLst>
              </a:tr>
              <a:tr h="838883">
                <a:tc>
                  <a:txBody>
                    <a:bodyPr/>
                    <a:lstStyle/>
                    <a:p>
                      <a:r>
                        <a:rPr lang="en-US" sz="2400" dirty="0">
                          <a:latin typeface="Times New Roman" panose="02020603050405020304" pitchFamily="18" charset="0"/>
                          <a:cs typeface="Times New Roman" panose="02020603050405020304" pitchFamily="18" charset="0"/>
                        </a:rPr>
                        <a:t>Path Override from AGV → Robots</a:t>
                      </a:r>
                    </a:p>
                  </a:txBody>
                  <a:tcPr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sz="2400" dirty="0">
                          <a:latin typeface="Times New Roman" panose="02020603050405020304" pitchFamily="18" charset="0"/>
                          <a:cs typeface="Times New Roman" panose="02020603050405020304" pitchFamily="18" charset="0"/>
                        </a:rPr>
                        <a:t>Tampering, Denial of Service</a:t>
                      </a:r>
                    </a:p>
                  </a:txBody>
                  <a:tcPr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2400" dirty="0">
                          <a:latin typeface="Times New Roman" panose="02020603050405020304" pitchFamily="18" charset="0"/>
                          <a:cs typeface="Times New Roman" panose="02020603050405020304" pitchFamily="18" charset="0"/>
                        </a:rPr>
                        <a:t>Factory Robot Arm follows incorrect path, risking collision or production halt</a:t>
                      </a:r>
                    </a:p>
                  </a:txBody>
                  <a:tcPr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sz="2400" b="0" i="1" dirty="0">
                          <a:latin typeface="Times New Roman" panose="02020603050405020304" pitchFamily="18" charset="0"/>
                          <a:cs typeface="Times New Roman" panose="02020603050405020304" pitchFamily="18" charset="0"/>
                        </a:rPr>
                        <a:t>Continuous Monitoring + Policy Enforcement Point (PEP)</a:t>
                      </a:r>
                    </a:p>
                  </a:txBody>
                  <a:tcPr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72814212"/>
                  </a:ext>
                </a:extLst>
              </a:tr>
            </a:tbl>
          </a:graphicData>
        </a:graphic>
      </p:graphicFrame>
      <p:sp>
        <p:nvSpPr>
          <p:cNvPr id="27" name="TextBox 26">
            <a:extLst>
              <a:ext uri="{FF2B5EF4-FFF2-40B4-BE49-F238E27FC236}">
                <a16:creationId xmlns:a16="http://schemas.microsoft.com/office/drawing/2014/main" id="{1A3E5DD9-A1D6-C02E-DBFB-B4C6703557C0}"/>
              </a:ext>
            </a:extLst>
          </p:cNvPr>
          <p:cNvSpPr txBox="1"/>
          <p:nvPr/>
        </p:nvSpPr>
        <p:spPr>
          <a:xfrm>
            <a:off x="10674717" y="10347938"/>
            <a:ext cx="886848" cy="338554"/>
          </a:xfrm>
          <a:prstGeom prst="rect">
            <a:avLst/>
          </a:prstGeom>
          <a:noFill/>
        </p:spPr>
        <p:txBody>
          <a:bodyPr wrap="square" rtlCol="0">
            <a:spAutoFit/>
          </a:bodyPr>
          <a:lstStyle/>
          <a:p>
            <a:r>
              <a:rPr lang="en-IN" sz="1600" dirty="0">
                <a:solidFill>
                  <a:schemeClr val="bg1"/>
                </a:solidFill>
                <a:latin typeface="Times New Roman" panose="02020603050405020304" pitchFamily="18" charset="0"/>
                <a:cs typeface="Times New Roman" panose="02020603050405020304" pitchFamily="18" charset="0"/>
              </a:rPr>
              <a:t>Wi-Fi</a:t>
            </a:r>
          </a:p>
        </p:txBody>
      </p:sp>
      <p:sp>
        <p:nvSpPr>
          <p:cNvPr id="33" name="TextBox 32">
            <a:extLst>
              <a:ext uri="{FF2B5EF4-FFF2-40B4-BE49-F238E27FC236}">
                <a16:creationId xmlns:a16="http://schemas.microsoft.com/office/drawing/2014/main" id="{6F6C1206-8FFA-C1FC-5DA7-49882FB414F6}"/>
              </a:ext>
            </a:extLst>
          </p:cNvPr>
          <p:cNvSpPr txBox="1"/>
          <p:nvPr/>
        </p:nvSpPr>
        <p:spPr>
          <a:xfrm>
            <a:off x="17685443" y="13846846"/>
            <a:ext cx="890016" cy="307777"/>
          </a:xfrm>
          <a:prstGeom prst="rect">
            <a:avLst/>
          </a:prstGeom>
          <a:noFill/>
        </p:spPr>
        <p:txBody>
          <a:bodyPr wrap="square" rtlCol="0">
            <a:spAutoFit/>
          </a:bodyPr>
          <a:lstStyle/>
          <a:p>
            <a:r>
              <a:rPr lang="en-IN" sz="1400" dirty="0">
                <a:solidFill>
                  <a:srgbClr val="F3F8FB"/>
                </a:solidFill>
                <a:latin typeface="Times New Roman" panose="02020603050405020304" pitchFamily="18" charset="0"/>
                <a:cs typeface="Times New Roman" panose="02020603050405020304" pitchFamily="18" charset="0"/>
              </a:rPr>
              <a:t>Robots</a:t>
            </a:r>
          </a:p>
        </p:txBody>
      </p:sp>
      <p:sp>
        <p:nvSpPr>
          <p:cNvPr id="54" name="TextBox 53">
            <a:extLst>
              <a:ext uri="{FF2B5EF4-FFF2-40B4-BE49-F238E27FC236}">
                <a16:creationId xmlns:a16="http://schemas.microsoft.com/office/drawing/2014/main" id="{9D8C4213-7348-A1A2-69E0-841EE0F2562F}"/>
              </a:ext>
            </a:extLst>
          </p:cNvPr>
          <p:cNvSpPr txBox="1"/>
          <p:nvPr/>
        </p:nvSpPr>
        <p:spPr>
          <a:xfrm>
            <a:off x="3444107" y="2454437"/>
            <a:ext cx="6565461" cy="1323439"/>
          </a:xfrm>
          <a:prstGeom prst="rect">
            <a:avLst/>
          </a:prstGeom>
          <a:noFill/>
        </p:spPr>
        <p:txBody>
          <a:bodyPr wrap="square" rtlCol="0">
            <a:spAutoFit/>
          </a:bodyPr>
          <a:lstStyle/>
          <a:p>
            <a:pPr algn="ctr"/>
            <a:r>
              <a:rPr lang="en-IN" sz="4000" dirty="0">
                <a:latin typeface="Times New Roman" panose="02020603050405020304" pitchFamily="18" charset="0"/>
                <a:cs typeface="Times New Roman" panose="02020603050405020304" pitchFamily="18" charset="0"/>
              </a:rPr>
              <a:t>Soham Vaidya</a:t>
            </a:r>
          </a:p>
          <a:p>
            <a:pPr algn="ctr"/>
            <a:r>
              <a:rPr lang="en-US" sz="4000" dirty="0">
                <a:latin typeface="Times New Roman" panose="02020603050405020304" pitchFamily="18" charset="0"/>
                <a:cs typeface="Times New Roman" panose="02020603050405020304" pitchFamily="18" charset="0"/>
              </a:rPr>
              <a:t>NTU &amp; I</a:t>
            </a:r>
            <a:r>
              <a:rPr lang="en-US" sz="4000" baseline="30000" dirty="0">
                <a:latin typeface="Times New Roman" panose="02020603050405020304" pitchFamily="18" charset="0"/>
                <a:cs typeface="Times New Roman" panose="02020603050405020304" pitchFamily="18" charset="0"/>
              </a:rPr>
              <a:t>2</a:t>
            </a:r>
            <a:r>
              <a:rPr lang="en-US" sz="4000" dirty="0">
                <a:latin typeface="Times New Roman" panose="02020603050405020304" pitchFamily="18" charset="0"/>
                <a:cs typeface="Times New Roman" panose="02020603050405020304" pitchFamily="18" charset="0"/>
              </a:rPr>
              <a:t>R, A*STAR  </a:t>
            </a:r>
            <a:endParaRPr lang="en-IN" sz="4000" b="1" dirty="0">
              <a:latin typeface="Times New Roman" panose="02020603050405020304" pitchFamily="18" charset="0"/>
              <a:cs typeface="Times New Roman" panose="02020603050405020304" pitchFamily="18" charset="0"/>
            </a:endParaRPr>
          </a:p>
        </p:txBody>
      </p:sp>
      <p:sp>
        <p:nvSpPr>
          <p:cNvPr id="55" name="TextBox 54">
            <a:extLst>
              <a:ext uri="{FF2B5EF4-FFF2-40B4-BE49-F238E27FC236}">
                <a16:creationId xmlns:a16="http://schemas.microsoft.com/office/drawing/2014/main" id="{313C95B5-A084-8BDA-9CA9-AED067957BC9}"/>
              </a:ext>
            </a:extLst>
          </p:cNvPr>
          <p:cNvSpPr txBox="1"/>
          <p:nvPr/>
        </p:nvSpPr>
        <p:spPr>
          <a:xfrm>
            <a:off x="10925325" y="2456825"/>
            <a:ext cx="7026893" cy="1323439"/>
          </a:xfrm>
          <a:prstGeom prst="rect">
            <a:avLst/>
          </a:prstGeom>
          <a:noFill/>
        </p:spPr>
        <p:txBody>
          <a:bodyPr wrap="square" rtlCol="0">
            <a:spAutoFit/>
          </a:bodyPr>
          <a:lstStyle/>
          <a:p>
            <a:pPr algn="ctr"/>
            <a:r>
              <a:rPr lang="en-US" sz="4000" dirty="0">
                <a:latin typeface="Times New Roman" panose="02020603050405020304" pitchFamily="18" charset="0"/>
                <a:cs typeface="Times New Roman" panose="02020603050405020304" pitchFamily="18" charset="0"/>
              </a:rPr>
              <a:t>Anku Adhikari</a:t>
            </a:r>
            <a:r>
              <a:rPr lang="en-US" sz="4000" b="1" dirty="0">
                <a:latin typeface="Times New Roman" panose="02020603050405020304" pitchFamily="18" charset="0"/>
                <a:cs typeface="Times New Roman" panose="02020603050405020304" pitchFamily="18" charset="0"/>
              </a:rPr>
              <a:t> </a:t>
            </a:r>
          </a:p>
          <a:p>
            <a:pPr algn="ctr"/>
            <a:r>
              <a:rPr lang="en-US" sz="4000" dirty="0">
                <a:latin typeface="Times New Roman" panose="02020603050405020304" pitchFamily="18" charset="0"/>
                <a:cs typeface="Times New Roman" panose="02020603050405020304" pitchFamily="18" charset="0"/>
              </a:rPr>
              <a:t>I</a:t>
            </a:r>
            <a:r>
              <a:rPr lang="en-US" sz="4000" baseline="30000" dirty="0">
                <a:latin typeface="Times New Roman" panose="02020603050405020304" pitchFamily="18" charset="0"/>
                <a:cs typeface="Times New Roman" panose="02020603050405020304" pitchFamily="18" charset="0"/>
              </a:rPr>
              <a:t>2</a:t>
            </a:r>
            <a:r>
              <a:rPr lang="en-US" sz="4000" dirty="0">
                <a:latin typeface="Times New Roman" panose="02020603050405020304" pitchFamily="18" charset="0"/>
                <a:cs typeface="Times New Roman" panose="02020603050405020304" pitchFamily="18" charset="0"/>
              </a:rPr>
              <a:t>R, A*STAR </a:t>
            </a:r>
            <a:endParaRPr lang="en-IN" sz="4000" b="1" dirty="0">
              <a:latin typeface="Times New Roman" panose="02020603050405020304" pitchFamily="18" charset="0"/>
              <a:cs typeface="Times New Roman" panose="02020603050405020304" pitchFamily="18" charset="0"/>
            </a:endParaRPr>
          </a:p>
        </p:txBody>
      </p:sp>
      <p:sp>
        <p:nvSpPr>
          <p:cNvPr id="5" name="Rectangle 10">
            <a:extLst>
              <a:ext uri="{FF2B5EF4-FFF2-40B4-BE49-F238E27FC236}">
                <a16:creationId xmlns:a16="http://schemas.microsoft.com/office/drawing/2014/main" id="{1AC4D150-7AC5-30CC-ED1E-A8580269F84F}"/>
              </a:ext>
            </a:extLst>
          </p:cNvPr>
          <p:cNvSpPr/>
          <p:nvPr/>
        </p:nvSpPr>
        <p:spPr>
          <a:xfrm>
            <a:off x="864861" y="3913351"/>
            <a:ext cx="4439641" cy="734163"/>
          </a:xfrm>
          <a:prstGeom prst="rect">
            <a:avLst/>
          </a:prstGeom>
          <a:blipFill>
            <a:blip r:embed="rId8">
              <a:alphaModFix/>
            </a:blip>
            <a:stretch>
              <a:fillRect/>
            </a:stretch>
          </a:blipFill>
          <a:ln w="19046" cap="flat">
            <a:solidFill>
              <a:srgbClr val="042433"/>
            </a:solidFill>
            <a:prstDash val="solid"/>
            <a:miter/>
          </a:ln>
        </p:spPr>
        <p:txBody>
          <a:bodyPr vert="horz" wrap="square" lIns="91440" tIns="45720" rIns="91440" bIns="45720" anchor="ctr" anchorCtr="1" compatLnSpc="1">
            <a:noAutofit/>
          </a:bodyPr>
          <a:lstStyle/>
          <a:p>
            <a:pPr marL="0" marR="0" lvl="0" indent="0" algn="ctr" defTabSz="4572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3400" b="1" i="0" u="none" strike="noStrike" kern="1200" cap="none" spc="0" baseline="0" dirty="0">
                <a:solidFill>
                  <a:srgbClr val="FFFFFF"/>
                </a:solidFill>
                <a:uFillTx/>
                <a:latin typeface="Times New Roman" panose="02020603050405020304" pitchFamily="18" charset="0"/>
                <a:cs typeface="Times New Roman" panose="02020603050405020304" pitchFamily="18" charset="0"/>
              </a:rPr>
              <a:t>Background &amp; Aim</a:t>
            </a:r>
            <a:endParaRPr lang="en-SG" sz="3400" b="1" i="0" u="none" strike="noStrike" kern="1200" cap="none" spc="0" baseline="0" dirty="0">
              <a:solidFill>
                <a:srgbClr val="FFFFFF"/>
              </a:solidFill>
              <a:uFillTx/>
              <a:latin typeface="Times New Roman" panose="02020603050405020304" pitchFamily="18" charset="0"/>
              <a:cs typeface="Times New Roman" panose="02020603050405020304" pitchFamily="18" charset="0"/>
            </a:endParaRPr>
          </a:p>
        </p:txBody>
      </p:sp>
      <p:sp>
        <p:nvSpPr>
          <p:cNvPr id="9" name="Rectangle 10">
            <a:extLst>
              <a:ext uri="{FF2B5EF4-FFF2-40B4-BE49-F238E27FC236}">
                <a16:creationId xmlns:a16="http://schemas.microsoft.com/office/drawing/2014/main" id="{F53F0FB2-3F3B-2DBA-717A-4923059CA43F}"/>
              </a:ext>
            </a:extLst>
          </p:cNvPr>
          <p:cNvSpPr/>
          <p:nvPr/>
        </p:nvSpPr>
        <p:spPr>
          <a:xfrm>
            <a:off x="9894640" y="9346428"/>
            <a:ext cx="4439641" cy="734163"/>
          </a:xfrm>
          <a:prstGeom prst="rect">
            <a:avLst/>
          </a:prstGeom>
          <a:blipFill>
            <a:blip r:embed="rId8">
              <a:alphaModFix/>
            </a:blip>
            <a:stretch>
              <a:fillRect/>
            </a:stretch>
          </a:blipFill>
          <a:ln w="19046" cap="flat">
            <a:solidFill>
              <a:srgbClr val="042433"/>
            </a:solidFill>
            <a:prstDash val="solid"/>
            <a:miter/>
          </a:ln>
        </p:spPr>
        <p:txBody>
          <a:bodyPr vert="horz" wrap="square" lIns="91440" tIns="45720" rIns="91440" bIns="45720" anchor="ctr" anchorCtr="1" compatLnSpc="1">
            <a:noAutofit/>
          </a:bodyPr>
          <a:lstStyle/>
          <a:p>
            <a:pPr marL="0" marR="0" lvl="0" indent="0" algn="ctr" defTabSz="4572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3400" b="1" i="0" u="none" strike="noStrike" kern="1200" cap="none" spc="0" baseline="0" dirty="0">
                <a:solidFill>
                  <a:srgbClr val="FFFFFF"/>
                </a:solidFill>
                <a:uFillTx/>
                <a:latin typeface="Times New Roman" panose="02020603050405020304" pitchFamily="18" charset="0"/>
                <a:cs typeface="Times New Roman" panose="02020603050405020304" pitchFamily="18" charset="0"/>
              </a:rPr>
              <a:t>Threat Model</a:t>
            </a:r>
            <a:endParaRPr lang="en-SG" sz="3400" b="1" i="0" u="none" strike="noStrike" kern="1200" cap="none" spc="0" baseline="0" dirty="0">
              <a:solidFill>
                <a:srgbClr val="FFFFFF"/>
              </a:solidFill>
              <a:uFillTx/>
              <a:latin typeface="Times New Roman" panose="02020603050405020304" pitchFamily="18" charset="0"/>
              <a:cs typeface="Times New Roman" panose="02020603050405020304" pitchFamily="18" charset="0"/>
            </a:endParaRPr>
          </a:p>
        </p:txBody>
      </p:sp>
      <p:sp>
        <p:nvSpPr>
          <p:cNvPr id="10" name="Rectangle 10">
            <a:extLst>
              <a:ext uri="{FF2B5EF4-FFF2-40B4-BE49-F238E27FC236}">
                <a16:creationId xmlns:a16="http://schemas.microsoft.com/office/drawing/2014/main" id="{82C68C5C-3825-204A-C865-E09486A8F4AA}"/>
              </a:ext>
            </a:extLst>
          </p:cNvPr>
          <p:cNvSpPr/>
          <p:nvPr/>
        </p:nvSpPr>
        <p:spPr>
          <a:xfrm>
            <a:off x="916749" y="15491932"/>
            <a:ext cx="4439641" cy="734163"/>
          </a:xfrm>
          <a:prstGeom prst="rect">
            <a:avLst/>
          </a:prstGeom>
          <a:blipFill>
            <a:blip r:embed="rId8">
              <a:alphaModFix/>
            </a:blip>
            <a:stretch>
              <a:fillRect/>
            </a:stretch>
          </a:blipFill>
          <a:ln w="19046" cap="flat">
            <a:solidFill>
              <a:srgbClr val="042433"/>
            </a:solidFill>
            <a:prstDash val="solid"/>
            <a:miter/>
          </a:ln>
        </p:spPr>
        <p:txBody>
          <a:bodyPr vert="horz" wrap="square" lIns="91440" tIns="45720" rIns="91440" bIns="45720" anchor="ctr" anchorCtr="1" compatLnSpc="1">
            <a:noAutofit/>
          </a:bodyPr>
          <a:lstStyle/>
          <a:p>
            <a:pPr marL="0" marR="0" lvl="0" indent="0" algn="ctr" defTabSz="4572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3400" b="1" i="0" u="none" strike="noStrike" kern="1200" cap="none" spc="0" baseline="0" dirty="0">
                <a:solidFill>
                  <a:srgbClr val="FFFFFF"/>
                </a:solidFill>
                <a:uFillTx/>
                <a:latin typeface="Times New Roman" panose="02020603050405020304" pitchFamily="18" charset="0"/>
                <a:cs typeface="Times New Roman" panose="02020603050405020304" pitchFamily="18" charset="0"/>
              </a:rPr>
              <a:t>Survey and Analysis</a:t>
            </a:r>
            <a:endParaRPr lang="en-SG" sz="3400" b="1" i="0" u="none" strike="noStrike" kern="1200" cap="none" spc="0" baseline="0" dirty="0">
              <a:solidFill>
                <a:srgbClr val="FFFFFF"/>
              </a:solidFill>
              <a:uFillTx/>
              <a:latin typeface="Times New Roman" panose="02020603050405020304" pitchFamily="18" charset="0"/>
              <a:cs typeface="Times New Roman" panose="02020603050405020304" pitchFamily="18" charset="0"/>
            </a:endParaRPr>
          </a:p>
        </p:txBody>
      </p:sp>
      <p:sp>
        <p:nvSpPr>
          <p:cNvPr id="25" name="Rectangle 10">
            <a:extLst>
              <a:ext uri="{FF2B5EF4-FFF2-40B4-BE49-F238E27FC236}">
                <a16:creationId xmlns:a16="http://schemas.microsoft.com/office/drawing/2014/main" id="{90E8B49D-D560-2EB5-2B11-7B0FF5AFE41B}"/>
              </a:ext>
            </a:extLst>
          </p:cNvPr>
          <p:cNvSpPr/>
          <p:nvPr/>
        </p:nvSpPr>
        <p:spPr>
          <a:xfrm>
            <a:off x="864862" y="21208775"/>
            <a:ext cx="4439641" cy="734163"/>
          </a:xfrm>
          <a:prstGeom prst="rect">
            <a:avLst/>
          </a:prstGeom>
          <a:blipFill>
            <a:blip r:embed="rId8">
              <a:alphaModFix/>
            </a:blip>
            <a:stretch>
              <a:fillRect/>
            </a:stretch>
          </a:blipFill>
          <a:ln w="19046" cap="flat">
            <a:solidFill>
              <a:srgbClr val="042433"/>
            </a:solidFill>
            <a:prstDash val="solid"/>
            <a:miter/>
          </a:ln>
        </p:spPr>
        <p:txBody>
          <a:bodyPr vert="horz" wrap="square" lIns="91440" tIns="45720" rIns="91440" bIns="45720" anchor="ctr" anchorCtr="1" compatLnSpc="1">
            <a:noAutofit/>
          </a:bodyPr>
          <a:lstStyle/>
          <a:p>
            <a:pPr marL="0" marR="0" lvl="0" indent="0" algn="ctr" defTabSz="4572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3400" b="1" i="0" u="none" strike="noStrike" kern="1200" cap="none" spc="0" baseline="0" dirty="0">
                <a:solidFill>
                  <a:srgbClr val="FFFFFF"/>
                </a:solidFill>
                <a:uFillTx/>
                <a:latin typeface="Times New Roman" panose="02020603050405020304" pitchFamily="18" charset="0"/>
                <a:cs typeface="Times New Roman" panose="02020603050405020304" pitchFamily="18" charset="0"/>
              </a:rPr>
              <a:t>Methodology</a:t>
            </a:r>
            <a:endParaRPr lang="en-SG" sz="3400" b="1" i="0" u="none" strike="noStrike" kern="1200" cap="none" spc="0" baseline="0" dirty="0">
              <a:solidFill>
                <a:srgbClr val="FFFFFF"/>
              </a:solidFill>
              <a:uFillTx/>
              <a:latin typeface="Times New Roman" panose="02020603050405020304" pitchFamily="18" charset="0"/>
              <a:cs typeface="Times New Roman" panose="02020603050405020304" pitchFamily="18" charset="0"/>
            </a:endParaRPr>
          </a:p>
        </p:txBody>
      </p:sp>
      <p:sp>
        <p:nvSpPr>
          <p:cNvPr id="28" name="Rectangle 10">
            <a:extLst>
              <a:ext uri="{FF2B5EF4-FFF2-40B4-BE49-F238E27FC236}">
                <a16:creationId xmlns:a16="http://schemas.microsoft.com/office/drawing/2014/main" id="{7192E34C-7CBD-E5B7-044D-A531B67ACE7F}"/>
              </a:ext>
            </a:extLst>
          </p:cNvPr>
          <p:cNvSpPr/>
          <p:nvPr/>
        </p:nvSpPr>
        <p:spPr>
          <a:xfrm>
            <a:off x="13111909" y="21208775"/>
            <a:ext cx="4439641" cy="734163"/>
          </a:xfrm>
          <a:prstGeom prst="rect">
            <a:avLst/>
          </a:prstGeom>
          <a:blipFill>
            <a:blip r:embed="rId8">
              <a:alphaModFix/>
            </a:blip>
            <a:stretch>
              <a:fillRect/>
            </a:stretch>
          </a:blipFill>
          <a:ln w="19046" cap="flat">
            <a:solidFill>
              <a:srgbClr val="042433"/>
            </a:solidFill>
            <a:prstDash val="solid"/>
            <a:miter/>
          </a:ln>
        </p:spPr>
        <p:txBody>
          <a:bodyPr vert="horz" wrap="square" lIns="91440" tIns="45720" rIns="91440" bIns="45720" anchor="ctr" anchorCtr="1" compatLnSpc="1">
            <a:noAutofit/>
          </a:bodyPr>
          <a:lstStyle/>
          <a:p>
            <a:pPr marL="0" marR="0" lvl="0" indent="0" algn="ctr" defTabSz="4572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3400" b="1" i="0" u="none" strike="noStrike" kern="1200" cap="none" spc="0" baseline="0" dirty="0">
                <a:solidFill>
                  <a:srgbClr val="FFFFFF"/>
                </a:solidFill>
                <a:uFillTx/>
                <a:latin typeface="Times New Roman" panose="02020603050405020304" pitchFamily="18" charset="0"/>
                <a:cs typeface="Times New Roman" panose="02020603050405020304" pitchFamily="18" charset="0"/>
              </a:rPr>
              <a:t>Challenges</a:t>
            </a:r>
            <a:endParaRPr lang="en-SG" sz="3400" b="1" i="0" u="none" strike="noStrike" kern="1200" cap="none" spc="0" baseline="0" dirty="0">
              <a:solidFill>
                <a:srgbClr val="FFFFFF"/>
              </a:solidFill>
              <a:uFillTx/>
              <a:latin typeface="Times New Roman" panose="02020603050405020304" pitchFamily="18" charset="0"/>
              <a:cs typeface="Times New Roman" panose="02020603050405020304" pitchFamily="18" charset="0"/>
            </a:endParaRPr>
          </a:p>
        </p:txBody>
      </p:sp>
      <p:sp>
        <p:nvSpPr>
          <p:cNvPr id="34" name="TextBox 33">
            <a:extLst>
              <a:ext uri="{FF2B5EF4-FFF2-40B4-BE49-F238E27FC236}">
                <a16:creationId xmlns:a16="http://schemas.microsoft.com/office/drawing/2014/main" id="{B5DFA48C-6326-D638-DA75-5619CE8A2BBF}"/>
              </a:ext>
            </a:extLst>
          </p:cNvPr>
          <p:cNvSpPr txBox="1"/>
          <p:nvPr/>
        </p:nvSpPr>
        <p:spPr>
          <a:xfrm>
            <a:off x="17872308" y="13762190"/>
            <a:ext cx="1296848" cy="338554"/>
          </a:xfrm>
          <a:prstGeom prst="rect">
            <a:avLst/>
          </a:prstGeom>
          <a:noFill/>
        </p:spPr>
        <p:txBody>
          <a:bodyPr wrap="square" rtlCol="0">
            <a:spAutoFit/>
          </a:bodyPr>
          <a:lstStyle/>
          <a:p>
            <a:r>
              <a:rPr lang="en-IN" sz="1600" dirty="0">
                <a:solidFill>
                  <a:schemeClr val="bg1"/>
                </a:solidFill>
                <a:latin typeface="Times New Roman" panose="02020603050405020304" pitchFamily="18" charset="0"/>
                <a:cs typeface="Times New Roman" panose="02020603050405020304" pitchFamily="18" charset="0"/>
              </a:rPr>
              <a:t>Robots</a:t>
            </a:r>
          </a:p>
        </p:txBody>
      </p:sp>
      <p:cxnSp>
        <p:nvCxnSpPr>
          <p:cNvPr id="36" name="Straight Connector 35">
            <a:extLst>
              <a:ext uri="{FF2B5EF4-FFF2-40B4-BE49-F238E27FC236}">
                <a16:creationId xmlns:a16="http://schemas.microsoft.com/office/drawing/2014/main" id="{163CF74A-7247-3039-C193-C759D51346B3}"/>
              </a:ext>
            </a:extLst>
          </p:cNvPr>
          <p:cNvCxnSpPr/>
          <p:nvPr/>
        </p:nvCxnSpPr>
        <p:spPr>
          <a:xfrm>
            <a:off x="20528083" y="15586710"/>
            <a:ext cx="0" cy="390525"/>
          </a:xfrm>
          <a:prstGeom prst="line">
            <a:avLst/>
          </a:prstGeom>
          <a:ln>
            <a:solidFill>
              <a:schemeClr val="bg1"/>
            </a:solidFill>
          </a:ln>
        </p:spPr>
        <p:style>
          <a:lnRef idx="2">
            <a:schemeClr val="accent1"/>
          </a:lnRef>
          <a:fillRef idx="0">
            <a:schemeClr val="accent1"/>
          </a:fillRef>
          <a:effectRef idx="1">
            <a:schemeClr val="accent1"/>
          </a:effectRef>
          <a:fontRef idx="minor">
            <a:schemeClr val="tx1"/>
          </a:fontRef>
        </p:style>
      </p:cxnSp>
      <p:pic>
        <p:nvPicPr>
          <p:cNvPr id="11" name="Picture 10" descr="A diagram of a security system">
            <a:extLst>
              <a:ext uri="{FF2B5EF4-FFF2-40B4-BE49-F238E27FC236}">
                <a16:creationId xmlns:a16="http://schemas.microsoft.com/office/drawing/2014/main" id="{B52F62B6-6BC4-CA15-6024-F10549B36F4F}"/>
              </a:ext>
            </a:extLst>
          </p:cNvPr>
          <p:cNvPicPr>
            <a:picLocks noChangeAspect="1"/>
          </p:cNvPicPr>
          <p:nvPr/>
        </p:nvPicPr>
        <p:blipFill>
          <a:blip r:embed="rId9">
            <a:extLst>
              <a:ext uri="{28A0092B-C50C-407E-A947-70E740481C1C}">
                <a14:useLocalDpi xmlns:a14="http://schemas.microsoft.com/office/drawing/2010/main" val="0"/>
              </a:ext>
            </a:extLst>
          </a:blip>
          <a:srcRect l="4550" t="753" r="-852" b="3223"/>
          <a:stretch>
            <a:fillRect/>
          </a:stretch>
        </p:blipFill>
        <p:spPr>
          <a:xfrm>
            <a:off x="10721609" y="3927589"/>
            <a:ext cx="8823859" cy="4949028"/>
          </a:xfrm>
          <a:prstGeom prst="rect">
            <a:avLst/>
          </a:prstGeom>
          <a:ln>
            <a:solidFill>
              <a:schemeClr val="tx1"/>
            </a:solidFill>
          </a:ln>
        </p:spPr>
      </p:pic>
      <p:pic>
        <p:nvPicPr>
          <p:cNvPr id="23" name="Picture 22" descr="A screenshot of a computer">
            <a:extLst>
              <a:ext uri="{FF2B5EF4-FFF2-40B4-BE49-F238E27FC236}">
                <a16:creationId xmlns:a16="http://schemas.microsoft.com/office/drawing/2014/main" id="{282327A4-6D83-785C-026B-8DD583E2A23B}"/>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9894640" y="10211709"/>
            <a:ext cx="10633439" cy="5738682"/>
          </a:xfrm>
          <a:prstGeom prst="rect">
            <a:avLst/>
          </a:prstGeom>
        </p:spPr>
      </p:pic>
      <p:sp>
        <p:nvSpPr>
          <p:cNvPr id="19" name="TextBox 18">
            <a:extLst>
              <a:ext uri="{FF2B5EF4-FFF2-40B4-BE49-F238E27FC236}">
                <a16:creationId xmlns:a16="http://schemas.microsoft.com/office/drawing/2014/main" id="{0508C8A5-1A0C-2224-76FD-B2529854323B}"/>
              </a:ext>
            </a:extLst>
          </p:cNvPr>
          <p:cNvSpPr txBox="1"/>
          <p:nvPr/>
        </p:nvSpPr>
        <p:spPr>
          <a:xfrm>
            <a:off x="11938824" y="15700236"/>
            <a:ext cx="9809853" cy="276999"/>
          </a:xfrm>
          <a:prstGeom prst="rect">
            <a:avLst/>
          </a:prstGeom>
          <a:noFill/>
        </p:spPr>
        <p:txBody>
          <a:bodyPr wrap="square" rtlCol="0">
            <a:spAutoFit/>
          </a:bodyPr>
          <a:lstStyle/>
          <a:p>
            <a:pPr>
              <a:buNone/>
            </a:pPr>
            <a:r>
              <a:rPr lang="en-US" sz="1200" i="1" dirty="0">
                <a:latin typeface="Times New Roman" panose="02020603050405020304" pitchFamily="18" charset="0"/>
                <a:cs typeface="Times New Roman" panose="02020603050405020304" pitchFamily="18" charset="0"/>
              </a:rPr>
              <a:t>Types of smart factory technologies.</a:t>
            </a:r>
            <a:r>
              <a:rPr lang="en-US" sz="1200" dirty="0">
                <a:latin typeface="Times New Roman" panose="02020603050405020304" pitchFamily="18" charset="0"/>
                <a:cs typeface="Times New Roman" panose="02020603050405020304" pitchFamily="18" charset="0"/>
              </a:rPr>
              <a:t> Adapted from "Smart Manufacturing: The Future of Smart Factories", by E. Thompson, Cyngn, 2024.</a:t>
            </a:r>
            <a:endParaRPr lang="en-IN" sz="1200" dirty="0">
              <a:latin typeface="Times New Roman" panose="02020603050405020304" pitchFamily="18" charset="0"/>
              <a:cs typeface="Times New Roman" panose="02020603050405020304" pitchFamily="18" charset="0"/>
            </a:endParaRPr>
          </a:p>
        </p:txBody>
      </p:sp>
      <p:cxnSp>
        <p:nvCxnSpPr>
          <p:cNvPr id="29" name="Straight Connector 28">
            <a:extLst>
              <a:ext uri="{FF2B5EF4-FFF2-40B4-BE49-F238E27FC236}">
                <a16:creationId xmlns:a16="http://schemas.microsoft.com/office/drawing/2014/main" id="{CA900881-F56D-B022-C6C9-A575A336D665}"/>
              </a:ext>
            </a:extLst>
          </p:cNvPr>
          <p:cNvCxnSpPr/>
          <p:nvPr/>
        </p:nvCxnSpPr>
        <p:spPr>
          <a:xfrm>
            <a:off x="20524470" y="15712440"/>
            <a:ext cx="0" cy="448562"/>
          </a:xfrm>
          <a:prstGeom prst="line">
            <a:avLst/>
          </a:prstGeom>
          <a:ln>
            <a:solidFill>
              <a:schemeClr val="bg1"/>
            </a:solidFill>
          </a:ln>
        </p:spPr>
        <p:style>
          <a:lnRef idx="2">
            <a:schemeClr val="accent1"/>
          </a:lnRef>
          <a:fillRef idx="0">
            <a:schemeClr val="accent1"/>
          </a:fillRef>
          <a:effectRef idx="1">
            <a:schemeClr val="accent1"/>
          </a:effectRef>
          <a:fontRef idx="minor">
            <a:schemeClr val="tx1"/>
          </a:fontRef>
        </p:style>
      </p:cxnSp>
      <p:sp>
        <p:nvSpPr>
          <p:cNvPr id="32" name="TextBox 31">
            <a:extLst>
              <a:ext uri="{FF2B5EF4-FFF2-40B4-BE49-F238E27FC236}">
                <a16:creationId xmlns:a16="http://schemas.microsoft.com/office/drawing/2014/main" id="{050D15D2-873A-5CD9-77CC-14BC2A28B720}"/>
              </a:ext>
            </a:extLst>
          </p:cNvPr>
          <p:cNvSpPr txBox="1"/>
          <p:nvPr/>
        </p:nvSpPr>
        <p:spPr>
          <a:xfrm>
            <a:off x="17862448" y="13808602"/>
            <a:ext cx="944081" cy="307777"/>
          </a:xfrm>
          <a:prstGeom prst="rect">
            <a:avLst/>
          </a:prstGeom>
          <a:noFill/>
        </p:spPr>
        <p:txBody>
          <a:bodyPr wrap="square" rtlCol="0">
            <a:spAutoFit/>
          </a:bodyPr>
          <a:lstStyle/>
          <a:p>
            <a:r>
              <a:rPr lang="en-IN" sz="1400" dirty="0">
                <a:solidFill>
                  <a:schemeClr val="bg1"/>
                </a:solidFill>
                <a:latin typeface="Times New Roman" panose="02020603050405020304" pitchFamily="18" charset="0"/>
                <a:cs typeface="Times New Roman" panose="02020603050405020304" pitchFamily="18" charset="0"/>
              </a:rPr>
              <a:t>Robots</a:t>
            </a:r>
          </a:p>
        </p:txBody>
      </p:sp>
      <p:sp>
        <p:nvSpPr>
          <p:cNvPr id="12" name="TextBox 11">
            <a:extLst>
              <a:ext uri="{FF2B5EF4-FFF2-40B4-BE49-F238E27FC236}">
                <a16:creationId xmlns:a16="http://schemas.microsoft.com/office/drawing/2014/main" id="{B26C1054-46C4-2C52-C5B6-0887147A90AB}"/>
              </a:ext>
            </a:extLst>
          </p:cNvPr>
          <p:cNvSpPr txBox="1"/>
          <p:nvPr/>
        </p:nvSpPr>
        <p:spPr>
          <a:xfrm>
            <a:off x="778715" y="4657395"/>
            <a:ext cx="8854339" cy="10864513"/>
          </a:xfrm>
          <a:prstGeom prst="rect">
            <a:avLst/>
          </a:prstGeom>
          <a:noFill/>
        </p:spPr>
        <p:txBody>
          <a:bodyPr wrap="square" rtlCol="0">
            <a:spAutoFit/>
          </a:bodyPr>
          <a:lstStyle/>
          <a:p>
            <a:pPr algn="just"/>
            <a:r>
              <a:rPr lang="en-US" sz="2800" dirty="0">
                <a:latin typeface="Times New Roman" panose="02020603050405020304" pitchFamily="18" charset="0"/>
                <a:cs typeface="Times New Roman" panose="02020603050405020304" pitchFamily="18" charset="0"/>
              </a:rPr>
              <a:t>Interconnected autonomous systems are rapidly emerging in domains like smart factories and healthcare. These systems, which have similar layered architectures (sensing, communication, control, and interface), include robots, drones, IoT sensors, AVs, and XR technology. As a result, there is a potential of lateral movement across the components and overlapping vulnerabilities.</a:t>
            </a:r>
          </a:p>
          <a:p>
            <a:pPr algn="just"/>
            <a:endParaRPr lang="en-US" sz="2800" dirty="0">
              <a:latin typeface="Times New Roman" panose="02020603050405020304" pitchFamily="18" charset="0"/>
              <a:cs typeface="Times New Roman" panose="02020603050405020304" pitchFamily="18" charset="0"/>
            </a:endParaRPr>
          </a:p>
          <a:p>
            <a:r>
              <a:rPr lang="en-US" sz="2800" dirty="0">
                <a:latin typeface="Times New Roman" panose="02020603050405020304" pitchFamily="18" charset="0"/>
                <a:cs typeface="Times New Roman" panose="02020603050405020304" pitchFamily="18" charset="0"/>
              </a:rPr>
              <a:t>To address this, Zero Trust Architecture (ZTA) can be used to enhance security. However, traditional ZTA in such environments can face limitations like:</a:t>
            </a:r>
          </a:p>
          <a:p>
            <a:pPr marL="457200" indent="-457200">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High computational and power demands.</a:t>
            </a:r>
          </a:p>
          <a:p>
            <a:pPr marL="457200" indent="-457200">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Latency from continuous authentication and policy checks.</a:t>
            </a:r>
          </a:p>
          <a:p>
            <a:pPr marL="457200" indent="-457200">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Centralized Policy Decision Points (PDPs), creating bottlenecks and a single point of failure.</a:t>
            </a:r>
          </a:p>
          <a:p>
            <a:endParaRPr lang="en-US" sz="2800" dirty="0">
              <a:latin typeface="Times New Roman" panose="02020603050405020304" pitchFamily="18" charset="0"/>
              <a:cs typeface="Times New Roman" panose="02020603050405020304" pitchFamily="18" charset="0"/>
            </a:endParaRPr>
          </a:p>
          <a:p>
            <a:r>
              <a:rPr lang="en-US" sz="2800" b="1" dirty="0">
                <a:latin typeface="Times New Roman" panose="02020603050405020304" pitchFamily="18" charset="0"/>
                <a:cs typeface="Times New Roman" panose="02020603050405020304" pitchFamily="18" charset="0"/>
              </a:rPr>
              <a:t>Aim: </a:t>
            </a:r>
            <a:r>
              <a:rPr lang="en-US" sz="2800" dirty="0">
                <a:latin typeface="Times New Roman" panose="02020603050405020304" pitchFamily="18" charset="0"/>
                <a:cs typeface="Times New Roman" panose="02020603050405020304" pitchFamily="18" charset="0"/>
              </a:rPr>
              <a:t>We propose </a:t>
            </a:r>
            <a:r>
              <a:rPr lang="en-US" sz="2800" i="1" dirty="0">
                <a:latin typeface="Times New Roman" panose="02020603050405020304" pitchFamily="18" charset="0"/>
                <a:cs typeface="Times New Roman" panose="02020603050405020304" pitchFamily="18" charset="0"/>
              </a:rPr>
              <a:t>ZETAS (Zero Trust for Autonomous Systems) -</a:t>
            </a:r>
            <a:r>
              <a:rPr lang="en-US" sz="2800" dirty="0">
                <a:latin typeface="Times New Roman" panose="02020603050405020304" pitchFamily="18" charset="0"/>
                <a:cs typeface="Times New Roman" panose="02020603050405020304" pitchFamily="18" charset="0"/>
              </a:rPr>
              <a:t> a unified, Zero Trust framework tailored for autonomous systems to:</a:t>
            </a:r>
          </a:p>
          <a:p>
            <a:pPr marL="514350" indent="-514350">
              <a:buFont typeface="+mj-lt"/>
              <a:buAutoNum type="arabicPeriod"/>
            </a:pPr>
            <a:r>
              <a:rPr lang="en-US" sz="2800" dirty="0">
                <a:latin typeface="Times New Roman" panose="02020603050405020304" pitchFamily="18" charset="0"/>
                <a:cs typeface="Times New Roman" panose="02020603050405020304" pitchFamily="18" charset="0"/>
              </a:rPr>
              <a:t>Enable low-latency real-time monitoring using lightweight AI models.</a:t>
            </a:r>
          </a:p>
          <a:p>
            <a:pPr marL="514350" indent="-514350">
              <a:buFont typeface="+mj-lt"/>
              <a:buAutoNum type="arabicPeriod"/>
            </a:pPr>
            <a:r>
              <a:rPr lang="en-US" sz="2800" dirty="0">
                <a:latin typeface="Times New Roman" panose="02020603050405020304" pitchFamily="18" charset="0"/>
                <a:cs typeface="Times New Roman" panose="02020603050405020304" pitchFamily="18" charset="0"/>
              </a:rPr>
              <a:t>Support optimized mutual attestation.</a:t>
            </a:r>
          </a:p>
          <a:p>
            <a:pPr marL="514350" indent="-514350">
              <a:buFont typeface="+mj-lt"/>
              <a:buAutoNum type="arabicPeriod"/>
            </a:pPr>
            <a:r>
              <a:rPr lang="en-US" sz="2800" dirty="0">
                <a:latin typeface="Times New Roman" panose="02020603050405020304" pitchFamily="18" charset="0"/>
                <a:cs typeface="Times New Roman" panose="02020603050405020304" pitchFamily="18" charset="0"/>
              </a:rPr>
              <a:t>Implement distributed PDPs to reduce latency and enhance resilience.</a:t>
            </a:r>
          </a:p>
        </p:txBody>
      </p:sp>
      <p:pic>
        <p:nvPicPr>
          <p:cNvPr id="22" name="Picture 21" descr="A close-up of a computer&#10;&#10;AI-generated content may be incorrect.">
            <a:extLst>
              <a:ext uri="{FF2B5EF4-FFF2-40B4-BE49-F238E27FC236}">
                <a16:creationId xmlns:a16="http://schemas.microsoft.com/office/drawing/2014/main" id="{3055F411-DE17-A169-1836-D84D05D88806}"/>
              </a:ext>
            </a:extLst>
          </p:cNvPr>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693420" y="22022046"/>
            <a:ext cx="12600550" cy="7074121"/>
          </a:xfrm>
          <a:prstGeom prst="rect">
            <a:avLst/>
          </a:prstGeom>
        </p:spPr>
      </p:pic>
      <p:sp>
        <p:nvSpPr>
          <p:cNvPr id="43" name="TextBox 42">
            <a:extLst>
              <a:ext uri="{FF2B5EF4-FFF2-40B4-BE49-F238E27FC236}">
                <a16:creationId xmlns:a16="http://schemas.microsoft.com/office/drawing/2014/main" id="{AE7E9367-93A2-BB61-F2E9-6D44CAE989B0}"/>
              </a:ext>
            </a:extLst>
          </p:cNvPr>
          <p:cNvSpPr txBox="1"/>
          <p:nvPr/>
        </p:nvSpPr>
        <p:spPr>
          <a:xfrm>
            <a:off x="13015375" y="22012165"/>
            <a:ext cx="7509095" cy="4524315"/>
          </a:xfrm>
          <a:prstGeom prst="rect">
            <a:avLst/>
          </a:prstGeom>
          <a:noFill/>
        </p:spPr>
        <p:txBody>
          <a:bodyPr wrap="square" rtlCol="0">
            <a:spAutoFit/>
          </a:bodyPr>
          <a:lstStyle/>
          <a:p>
            <a:pPr marL="342900" indent="-342900" algn="just">
              <a:buFont typeface="+mj-lt"/>
              <a:buAutoNum type="arabicPeriod"/>
            </a:pPr>
            <a:r>
              <a:rPr lang="en-US" sz="2400" dirty="0">
                <a:latin typeface="Times New Roman" panose="02020603050405020304" pitchFamily="18" charset="0"/>
                <a:cs typeface="Times New Roman" panose="02020603050405020304" pitchFamily="18" charset="0"/>
              </a:rPr>
              <a:t>Optimizing mutual attestation by using robust trust models that reduce the number of handshakes for authentication.</a:t>
            </a:r>
          </a:p>
          <a:p>
            <a:pPr marL="342900" indent="-342900" algn="just">
              <a:buFont typeface="+mj-lt"/>
              <a:buAutoNum type="arabicPeriod"/>
            </a:pPr>
            <a:r>
              <a:rPr lang="en-US" sz="2400" dirty="0">
                <a:latin typeface="Times New Roman" panose="02020603050405020304" pitchFamily="18" charset="0"/>
                <a:cs typeface="Times New Roman" panose="02020603050405020304" pitchFamily="18" charset="0"/>
              </a:rPr>
              <a:t>Managing distributed  access and storage of the policy databases for Policy Decision Points (PDP).</a:t>
            </a:r>
          </a:p>
          <a:p>
            <a:pPr marL="342900" indent="-342900" algn="just">
              <a:buFont typeface="+mj-lt"/>
              <a:buAutoNum type="arabicPeriod"/>
            </a:pPr>
            <a:r>
              <a:rPr lang="en-US" sz="2400" dirty="0">
                <a:latin typeface="Times New Roman" panose="02020603050405020304" pitchFamily="18" charset="0"/>
                <a:cs typeface="Times New Roman" panose="02020603050405020304" pitchFamily="18" charset="0"/>
              </a:rPr>
              <a:t>Designing AI pipelines that balance inference accuracy with real-time performance constraints.</a:t>
            </a:r>
          </a:p>
          <a:p>
            <a:pPr marL="342900" indent="-342900" algn="just">
              <a:buFont typeface="+mj-lt"/>
              <a:buAutoNum type="arabicPeriod"/>
            </a:pPr>
            <a:r>
              <a:rPr lang="en-US" sz="2400" dirty="0">
                <a:latin typeface="Times New Roman" panose="02020603050405020304" pitchFamily="18" charset="0"/>
                <a:cs typeface="Times New Roman" panose="02020603050405020304" pitchFamily="18" charset="0"/>
              </a:rPr>
              <a:t>Quantizing models to fit memory and compute limits of embedded edge platform.</a:t>
            </a:r>
          </a:p>
          <a:p>
            <a:pPr marL="342900" indent="-342900" algn="just">
              <a:buFont typeface="+mj-lt"/>
              <a:buAutoNum type="arabicPeriod"/>
            </a:pPr>
            <a:r>
              <a:rPr lang="en-US" sz="2400" dirty="0">
                <a:latin typeface="Times New Roman" panose="02020603050405020304" pitchFamily="18" charset="0"/>
                <a:cs typeface="Times New Roman" panose="02020603050405020304" pitchFamily="18" charset="0"/>
              </a:rPr>
              <a:t>Establishing benchmarking metrics to evaluate trust model accuracy, latency, anomaly detection rates across diverse autonomous systems and operational scenarios.</a:t>
            </a:r>
          </a:p>
        </p:txBody>
      </p:sp>
      <p:sp>
        <p:nvSpPr>
          <p:cNvPr id="17" name="TextBox 16">
            <a:extLst>
              <a:ext uri="{FF2B5EF4-FFF2-40B4-BE49-F238E27FC236}">
                <a16:creationId xmlns:a16="http://schemas.microsoft.com/office/drawing/2014/main" id="{A881C131-459A-140B-F8C7-7625E36C01CA}"/>
              </a:ext>
            </a:extLst>
          </p:cNvPr>
          <p:cNvSpPr txBox="1"/>
          <p:nvPr/>
        </p:nvSpPr>
        <p:spPr>
          <a:xfrm>
            <a:off x="3132197" y="28870254"/>
            <a:ext cx="9463036" cy="400110"/>
          </a:xfrm>
          <a:prstGeom prst="rect">
            <a:avLst/>
          </a:prstGeom>
          <a:noFill/>
        </p:spPr>
        <p:txBody>
          <a:bodyPr wrap="square" rtlCol="0">
            <a:spAutoFit/>
          </a:bodyPr>
          <a:lstStyle/>
          <a:p>
            <a:r>
              <a:rPr lang="en-IN" sz="2000" dirty="0">
                <a:latin typeface="Times New Roman" panose="02020603050405020304" pitchFamily="18" charset="0"/>
                <a:cs typeface="Times New Roman" panose="02020603050405020304" pitchFamily="18" charset="0"/>
              </a:rPr>
              <a:t>Figure 3: </a:t>
            </a:r>
            <a:r>
              <a:rPr lang="en-IN" sz="2000" i="1" dirty="0">
                <a:latin typeface="Times New Roman" panose="02020603050405020304" pitchFamily="18" charset="0"/>
                <a:cs typeface="Times New Roman" panose="02020603050405020304" pitchFamily="18" charset="0"/>
              </a:rPr>
              <a:t>ZETAS </a:t>
            </a:r>
            <a:r>
              <a:rPr lang="en-IN" sz="2000" dirty="0">
                <a:latin typeface="Times New Roman" panose="02020603050405020304" pitchFamily="18" charset="0"/>
                <a:cs typeface="Times New Roman" panose="02020603050405020304" pitchFamily="18" charset="0"/>
              </a:rPr>
              <a:t>framework overlays with ROS2 Architecture for robots</a:t>
            </a:r>
          </a:p>
        </p:txBody>
      </p:sp>
      <p:sp>
        <p:nvSpPr>
          <p:cNvPr id="15" name="TextBox 14">
            <a:extLst>
              <a:ext uri="{FF2B5EF4-FFF2-40B4-BE49-F238E27FC236}">
                <a16:creationId xmlns:a16="http://schemas.microsoft.com/office/drawing/2014/main" id="{618A8A3A-0716-BBD0-5EBA-3AF178BB4063}"/>
              </a:ext>
            </a:extLst>
          </p:cNvPr>
          <p:cNvSpPr txBox="1"/>
          <p:nvPr/>
        </p:nvSpPr>
        <p:spPr>
          <a:xfrm>
            <a:off x="13034364" y="27678169"/>
            <a:ext cx="5772165" cy="1246495"/>
          </a:xfrm>
          <a:prstGeom prst="rect">
            <a:avLst/>
          </a:prstGeom>
          <a:noFill/>
        </p:spPr>
        <p:txBody>
          <a:bodyPr wrap="square" rtlCol="0">
            <a:spAutoFit/>
          </a:bodyPr>
          <a:lstStyle/>
          <a:p>
            <a:pPr algn="just"/>
            <a:r>
              <a:rPr lang="en-US" sz="2400" dirty="0">
                <a:latin typeface="Times New Roman" panose="02020603050405020304" pitchFamily="18" charset="0"/>
                <a:cs typeface="Times New Roman" panose="02020603050405020304" pitchFamily="18" charset="0"/>
              </a:rPr>
              <a:t>This work was partly supported by the Singapore NRF Fellowship </a:t>
            </a:r>
            <a:r>
              <a:rPr lang="en-US" sz="2400" dirty="0" err="1">
                <a:latin typeface="Times New Roman" panose="02020603050405020304" pitchFamily="18" charset="0"/>
                <a:cs typeface="Times New Roman" panose="02020603050405020304" pitchFamily="18" charset="0"/>
              </a:rPr>
              <a:t>programme</a:t>
            </a:r>
            <a:r>
              <a:rPr lang="en-US" sz="2400" dirty="0">
                <a:latin typeface="Times New Roman" panose="02020603050405020304" pitchFamily="18" charset="0"/>
                <a:cs typeface="Times New Roman" panose="02020603050405020304" pitchFamily="18" charset="0"/>
              </a:rPr>
              <a:t> (NRF-NRFF16-2024-0002).</a:t>
            </a:r>
            <a:endParaRPr lang="en-IN" sz="2400" dirty="0">
              <a:latin typeface="Times New Roman" panose="02020603050405020304" pitchFamily="18" charset="0"/>
              <a:cs typeface="Times New Roman" panose="02020603050405020304" pitchFamily="18" charset="0"/>
            </a:endParaRPr>
          </a:p>
        </p:txBody>
      </p:sp>
      <p:pic>
        <p:nvPicPr>
          <p:cNvPr id="26" name="Picture 25" descr="A qr code with a white background&#10;&#10;AI-generated content may be incorrect.">
            <a:extLst>
              <a:ext uri="{FF2B5EF4-FFF2-40B4-BE49-F238E27FC236}">
                <a16:creationId xmlns:a16="http://schemas.microsoft.com/office/drawing/2014/main" id="{44066325-66E3-0F1C-6D5C-87E17F910B71}"/>
              </a:ext>
            </a:extLst>
          </p:cNvPr>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19248817" y="26541455"/>
            <a:ext cx="1274868" cy="1274868"/>
          </a:xfrm>
          <a:prstGeom prst="rect">
            <a:avLst/>
          </a:prstGeom>
        </p:spPr>
      </p:pic>
      <p:pic>
        <p:nvPicPr>
          <p:cNvPr id="38" name="Picture 37" descr="A qr code with a white background&#10;&#10;AI-generated content may be incorrect.">
            <a:extLst>
              <a:ext uri="{FF2B5EF4-FFF2-40B4-BE49-F238E27FC236}">
                <a16:creationId xmlns:a16="http://schemas.microsoft.com/office/drawing/2014/main" id="{AE220E01-D5BA-B1BD-D8E9-5D2EC290D8E5}"/>
              </a:ext>
            </a:extLst>
          </p:cNvPr>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19248817" y="28068385"/>
            <a:ext cx="1274868" cy="1274868"/>
          </a:xfrm>
          <a:prstGeom prst="rect">
            <a:avLst/>
          </a:prstGeom>
        </p:spPr>
      </p:pic>
      <p:sp>
        <p:nvSpPr>
          <p:cNvPr id="37" name="TextBox 36">
            <a:extLst>
              <a:ext uri="{FF2B5EF4-FFF2-40B4-BE49-F238E27FC236}">
                <a16:creationId xmlns:a16="http://schemas.microsoft.com/office/drawing/2014/main" id="{FA933744-C6B9-CC24-FC3A-8A86A33789CA}"/>
              </a:ext>
            </a:extLst>
          </p:cNvPr>
          <p:cNvSpPr txBox="1"/>
          <p:nvPr/>
        </p:nvSpPr>
        <p:spPr>
          <a:xfrm>
            <a:off x="19248817" y="27645282"/>
            <a:ext cx="1913904" cy="461665"/>
          </a:xfrm>
          <a:prstGeom prst="rect">
            <a:avLst/>
          </a:prstGeom>
          <a:noFill/>
        </p:spPr>
        <p:txBody>
          <a:bodyPr wrap="square" rtlCol="0">
            <a:spAutoFit/>
          </a:bodyPr>
          <a:lstStyle/>
          <a:p>
            <a:r>
              <a:rPr lang="en-IN" sz="2400" dirty="0">
                <a:latin typeface="Times New Roman" panose="02020603050405020304" pitchFamily="18" charset="0"/>
                <a:cs typeface="Times New Roman" panose="02020603050405020304" pitchFamily="18" charset="0"/>
              </a:rPr>
              <a:t>Connect!</a:t>
            </a:r>
          </a:p>
        </p:txBody>
      </p:sp>
      <p:sp>
        <p:nvSpPr>
          <p:cNvPr id="40" name="TextBox 39">
            <a:extLst>
              <a:ext uri="{FF2B5EF4-FFF2-40B4-BE49-F238E27FC236}">
                <a16:creationId xmlns:a16="http://schemas.microsoft.com/office/drawing/2014/main" id="{33F0E30F-C8A2-94C2-3A1D-9D150CE14106}"/>
              </a:ext>
            </a:extLst>
          </p:cNvPr>
          <p:cNvSpPr txBox="1"/>
          <p:nvPr/>
        </p:nvSpPr>
        <p:spPr>
          <a:xfrm>
            <a:off x="18288076" y="29210774"/>
            <a:ext cx="3196349" cy="461665"/>
          </a:xfrm>
          <a:prstGeom prst="rect">
            <a:avLst/>
          </a:prstGeom>
          <a:noFill/>
        </p:spPr>
        <p:txBody>
          <a:bodyPr wrap="square" rtlCol="0">
            <a:spAutoFit/>
          </a:bodyPr>
          <a:lstStyle/>
          <a:p>
            <a:pPr algn="ctr"/>
            <a:r>
              <a:rPr lang="en-IN" sz="2400" dirty="0">
                <a:latin typeface="Times New Roman" panose="02020603050405020304" pitchFamily="18" charset="0"/>
                <a:cs typeface="Times New Roman" panose="02020603050405020304" pitchFamily="18" charset="0"/>
              </a:rPr>
              <a:t>More Info!</a:t>
            </a:r>
          </a:p>
        </p:txBody>
      </p:sp>
      <p:sp>
        <p:nvSpPr>
          <p:cNvPr id="7" name="Rectangle 10">
            <a:extLst>
              <a:ext uri="{FF2B5EF4-FFF2-40B4-BE49-F238E27FC236}">
                <a16:creationId xmlns:a16="http://schemas.microsoft.com/office/drawing/2014/main" id="{FFC32E2D-FDFB-6AB8-FE1A-E6D04319F40E}"/>
              </a:ext>
            </a:extLst>
          </p:cNvPr>
          <p:cNvSpPr/>
          <p:nvPr/>
        </p:nvSpPr>
        <p:spPr>
          <a:xfrm>
            <a:off x="13111908" y="26886747"/>
            <a:ext cx="4439641" cy="734163"/>
          </a:xfrm>
          <a:prstGeom prst="rect">
            <a:avLst/>
          </a:prstGeom>
          <a:blipFill>
            <a:blip r:embed="rId8">
              <a:alphaModFix/>
            </a:blip>
            <a:stretch>
              <a:fillRect/>
            </a:stretch>
          </a:blipFill>
          <a:ln w="19046" cap="flat">
            <a:solidFill>
              <a:srgbClr val="042433"/>
            </a:solidFill>
            <a:prstDash val="solid"/>
            <a:miter/>
          </a:ln>
        </p:spPr>
        <p:txBody>
          <a:bodyPr vert="horz" wrap="square" lIns="91440" tIns="45720" rIns="91440" bIns="45720" anchor="ctr" anchorCtr="1" compatLnSpc="1">
            <a:noAutofit/>
          </a:bodyPr>
          <a:lstStyle/>
          <a:p>
            <a:pPr marL="0" marR="0" lvl="0" indent="0" algn="ctr" defTabSz="4572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3400" b="1" i="0" u="none" strike="noStrike" kern="1200" cap="none" spc="0" baseline="0" dirty="0">
                <a:solidFill>
                  <a:srgbClr val="FFFFFF"/>
                </a:solidFill>
                <a:uFillTx/>
                <a:latin typeface="Times New Roman" panose="02020603050405020304" pitchFamily="18" charset="0"/>
                <a:cs typeface="Times New Roman" panose="02020603050405020304" pitchFamily="18" charset="0"/>
              </a:rPr>
              <a:t>Acknowledgement</a:t>
            </a:r>
            <a:endParaRPr lang="en-SG" sz="3400" b="1" i="0" u="none" strike="noStrike" kern="1200" cap="none" spc="0" baseline="0" dirty="0">
              <a:solidFill>
                <a:srgbClr val="FFFFFF"/>
              </a:solidFill>
              <a:uFillTx/>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95900009"/>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15ce9348-be2a-462b-8fc0-e1765a9b204a}" enabled="0" method="" siteId="{15ce9348-be2a-462b-8fc0-e1765a9b204a}" removed="1"/>
</clbl:labelList>
</file>

<file path=docProps/app.xml><?xml version="1.0" encoding="utf-8"?>
<Properties xmlns="http://schemas.openxmlformats.org/officeDocument/2006/extended-properties" xmlns:vt="http://schemas.openxmlformats.org/officeDocument/2006/docPropsVTypes">
  <Template>Office Theme</Template>
  <TotalTime>8545</TotalTime>
  <Words>523</Words>
  <Application>Microsoft Office PowerPoint</Application>
  <PresentationFormat>Custom</PresentationFormat>
  <Paragraphs>63</Paragraphs>
  <Slides>1</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vt:i4>
      </vt:variant>
    </vt:vector>
  </HeadingPairs>
  <TitlesOfParts>
    <vt:vector size="6" baseType="lpstr">
      <vt:lpstr>Aptos</vt:lpstr>
      <vt:lpstr>Aptos Display</vt:lpstr>
      <vt:lpstr>Arial</vt:lpstr>
      <vt:lpstr>Times New Roman</vt:lpstr>
      <vt:lpstr>Office Theme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#KOH WEI XUN#</dc:creator>
  <cp:lastModifiedBy>Soham Vaidya</cp:lastModifiedBy>
  <cp:revision>58</cp:revision>
  <dcterms:created xsi:type="dcterms:W3CDTF">2024-07-31T00:55:54Z</dcterms:created>
  <dcterms:modified xsi:type="dcterms:W3CDTF">2025-10-13T08:59:48Z</dcterms:modified>
</cp:coreProperties>
</file>